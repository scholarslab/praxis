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97" r:id="rId3"/>
    <p:sldId id="290" r:id="rId4"/>
    <p:sldId id="304" r:id="rId5"/>
    <p:sldId id="257" r:id="rId6"/>
    <p:sldId id="259" r:id="rId7"/>
    <p:sldId id="292" r:id="rId8"/>
    <p:sldId id="302" r:id="rId9"/>
    <p:sldId id="301" r:id="rId10"/>
    <p:sldId id="306" r:id="rId11"/>
    <p:sldId id="277" r:id="rId12"/>
    <p:sldId id="278" r:id="rId13"/>
    <p:sldId id="279" r:id="rId14"/>
    <p:sldId id="280" r:id="rId15"/>
    <p:sldId id="282" r:id="rId16"/>
    <p:sldId id="283" r:id="rId17"/>
    <p:sldId id="284" r:id="rId18"/>
    <p:sldId id="286" r:id="rId19"/>
    <p:sldId id="285" r:id="rId20"/>
    <p:sldId id="299" r:id="rId21"/>
    <p:sldId id="303" r:id="rId22"/>
    <p:sldId id="307" r:id="rId23"/>
    <p:sldId id="289" r:id="rId24"/>
    <p:sldId id="293" r:id="rId25"/>
    <p:sldId id="296" r:id="rId26"/>
    <p:sldId id="308" r:id="rId27"/>
    <p:sldId id="295" r:id="rId28"/>
    <p:sldId id="309" r:id="rId29"/>
    <p:sldId id="305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843"/>
    <p:restoredTop sz="69739"/>
  </p:normalViewPr>
  <p:slideViewPr>
    <p:cSldViewPr snapToGrid="0" snapToObjects="1">
      <p:cViewPr varScale="1">
        <p:scale>
          <a:sx n="69" d="100"/>
          <a:sy n="69" d="100"/>
        </p:scale>
        <p:origin x="216" y="3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C099571-84D5-B941-843E-CF8ED33D239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8B557D5B-BADC-D848-A30A-AC167EBA06F0}">
      <dgm:prSet/>
      <dgm:spPr/>
      <dgm:t>
        <a:bodyPr/>
        <a:lstStyle/>
        <a:p>
          <a:r>
            <a:rPr lang="en-US" dirty="0"/>
            <a:t>https://</a:t>
          </a:r>
          <a:r>
            <a:rPr lang="en-US" dirty="0" err="1"/>
            <a:t>bit.ly</a:t>
          </a:r>
          <a:r>
            <a:rPr lang="en-US" dirty="0"/>
            <a:t>/pedagogy-posts</a:t>
          </a:r>
        </a:p>
      </dgm:t>
    </dgm:pt>
    <dgm:pt modelId="{15CED76B-188B-E84A-B011-AE2C582D7045}" type="parTrans" cxnId="{9E18E7D0-A628-014E-AA50-CA9A3AFC5D87}">
      <dgm:prSet/>
      <dgm:spPr/>
      <dgm:t>
        <a:bodyPr/>
        <a:lstStyle/>
        <a:p>
          <a:endParaRPr lang="en-US"/>
        </a:p>
      </dgm:t>
    </dgm:pt>
    <dgm:pt modelId="{EAA3EB7B-EF05-244B-861F-16B7519452C1}" type="sibTrans" cxnId="{9E18E7D0-A628-014E-AA50-CA9A3AFC5D87}">
      <dgm:prSet/>
      <dgm:spPr/>
      <dgm:t>
        <a:bodyPr/>
        <a:lstStyle/>
        <a:p>
          <a:endParaRPr lang="en-US"/>
        </a:p>
      </dgm:t>
    </dgm:pt>
    <dgm:pt modelId="{5F68E46C-786E-0A4F-A232-046EFDC44F6F}" type="pres">
      <dgm:prSet presAssocID="{9C099571-84D5-B941-843E-CF8ED33D239C}" presName="linear" presStyleCnt="0">
        <dgm:presLayoutVars>
          <dgm:animLvl val="lvl"/>
          <dgm:resizeHandles val="exact"/>
        </dgm:presLayoutVars>
      </dgm:prSet>
      <dgm:spPr/>
    </dgm:pt>
    <dgm:pt modelId="{B8EEB1BD-5ED0-A64D-93E2-F70D753B4014}" type="pres">
      <dgm:prSet presAssocID="{8B557D5B-BADC-D848-A30A-AC167EBA06F0}" presName="parentText" presStyleLbl="node1" presStyleIdx="0" presStyleCnt="1" custLinFactNeighborX="-316" custLinFactNeighborY="-57861">
        <dgm:presLayoutVars>
          <dgm:chMax val="0"/>
          <dgm:bulletEnabled val="1"/>
        </dgm:presLayoutVars>
      </dgm:prSet>
      <dgm:spPr/>
    </dgm:pt>
  </dgm:ptLst>
  <dgm:cxnLst>
    <dgm:cxn modelId="{89AA7B46-79E1-9749-AC34-B9F33EAB570E}" type="presOf" srcId="{8B557D5B-BADC-D848-A30A-AC167EBA06F0}" destId="{B8EEB1BD-5ED0-A64D-93E2-F70D753B4014}" srcOrd="0" destOrd="0" presId="urn:microsoft.com/office/officeart/2005/8/layout/vList2"/>
    <dgm:cxn modelId="{9E18E7D0-A628-014E-AA50-CA9A3AFC5D87}" srcId="{9C099571-84D5-B941-843E-CF8ED33D239C}" destId="{8B557D5B-BADC-D848-A30A-AC167EBA06F0}" srcOrd="0" destOrd="0" parTransId="{15CED76B-188B-E84A-B011-AE2C582D7045}" sibTransId="{EAA3EB7B-EF05-244B-861F-16B7519452C1}"/>
    <dgm:cxn modelId="{A07BC5E7-0C47-4247-8CFC-476561DFE61B}" type="presOf" srcId="{9C099571-84D5-B941-843E-CF8ED33D239C}" destId="{5F68E46C-786E-0A4F-A232-046EFDC44F6F}" srcOrd="0" destOrd="0" presId="urn:microsoft.com/office/officeart/2005/8/layout/vList2"/>
    <dgm:cxn modelId="{8408C10A-09D6-7E4D-AB78-89C6DDC49E4C}" type="presParOf" srcId="{5F68E46C-786E-0A4F-A232-046EFDC44F6F}" destId="{B8EEB1BD-5ED0-A64D-93E2-F70D753B4014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8EEB1BD-5ED0-A64D-93E2-F70D753B4014}">
      <dsp:nvSpPr>
        <dsp:cNvPr id="0" name=""/>
        <dsp:cNvSpPr/>
      </dsp:nvSpPr>
      <dsp:spPr>
        <a:xfrm>
          <a:off x="0" y="0"/>
          <a:ext cx="5808133" cy="8394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https://</a:t>
          </a:r>
          <a:r>
            <a:rPr lang="en-US" sz="3500" kern="1200" dirty="0" err="1"/>
            <a:t>bit.ly</a:t>
          </a:r>
          <a:r>
            <a:rPr lang="en-US" sz="3500" kern="1200" dirty="0"/>
            <a:t>/pedagogy-posts</a:t>
          </a:r>
        </a:p>
      </dsp:txBody>
      <dsp:txXfrm>
        <a:off x="40980" y="40980"/>
        <a:ext cx="5726173" cy="7575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872EBC-2E3C-CF45-9A4B-623097783979}" type="datetimeFigureOut">
              <a:t>10/23/24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2B715B-618E-024D-9745-4BA83BFF9D4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765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B715B-618E-024D-9745-4BA83BFF9D4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8140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Other questions that should be asked?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2B715B-618E-024D-9745-4BA83BFF9D40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9825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B715B-618E-024D-9745-4BA83BFF9D4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1224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Reactions to the buttonology reading?</a:t>
            </a:r>
          </a:p>
          <a:p>
            <a:r>
              <a:rPr lang="en-US"/>
              <a:t>What are the worst teaching/learning experiences they've ever had?</a:t>
            </a:r>
          </a:p>
          <a:p>
            <a:r>
              <a:rPr lang="en-US"/>
              <a:t>What scares them about teaching digital humanities?</a:t>
            </a:r>
          </a:p>
          <a:p>
            <a:endParaRPr lang="en-US"/>
          </a:p>
          <a:p>
            <a:r>
              <a:rPr lang="en-US"/>
              <a:t>Things you want them to get to – it's ok not to know everything. The technology can get in the way; it's not always necessary; you only need to know a little bit. They're all good teachers. </a:t>
            </a:r>
          </a:p>
          <a:p>
            <a:endParaRPr lang="en-US"/>
          </a:p>
          <a:p>
            <a:r>
              <a:rPr lang="en-US"/>
              <a:t>Buttonology certainly has its place, but there are other ways to teach.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2B715B-618E-024D-9745-4BA83BFF9D40}" type="slidenum"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1279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2B715B-618E-024D-9745-4BA83BFF9D40}" type="slidenum"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2679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Kurt Vonnegut’s </a:t>
            </a:r>
            <a:r>
              <a:rPr lang="en-US" dirty="0" err="1"/>
              <a:t>masters’s</a:t>
            </a:r>
            <a:r>
              <a:rPr lang="en-US" dirty="0"/>
              <a:t> thesis gave postulated that all stories are about moving between happiness and sadness over time, ecstasy and misery. He also returned to this idea in later lectures.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B715B-618E-024D-9745-4BA83BFF9D4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806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he plots out </a:t>
            </a:r>
            <a:r>
              <a:rPr lang="en-US" dirty="0" err="1"/>
              <a:t>cinderella</a:t>
            </a:r>
            <a:r>
              <a:rPr lang="en-US" dirty="0"/>
              <a:t>. Along with certain key plot points that track to the story. He somewhat famously offered several of these plot </a:t>
            </a:r>
            <a:r>
              <a:rPr lang="en-US" dirty="0" err="1"/>
              <a:t>archs</a:t>
            </a:r>
            <a:r>
              <a:rPr lang="en-US" dirty="0"/>
              <a:t> as archetypes and said something like “there are six types of stories”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B715B-618E-024D-9745-4BA83BFF9D4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8358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convenient thing for us because as you’ve been seeing in </a:t>
            </a:r>
            <a:r>
              <a:rPr lang="en-US" dirty="0" err="1"/>
              <a:t>codelab</a:t>
            </a:r>
            <a:r>
              <a:rPr lang="en-US" dirty="0"/>
              <a:t>, computers are very literally minded. You give them some information and they work with it. Given their constraints, how can we get to complex ideas like human emotions. How can a computer help us understand things. </a:t>
            </a:r>
          </a:p>
          <a:p>
            <a:endParaRPr lang="en-US" dirty="0"/>
          </a:p>
          <a:p>
            <a:r>
              <a:rPr lang="en-US" dirty="0"/>
              <a:t>We’ll be working with this provocation today and combining it with some of our </a:t>
            </a:r>
            <a:r>
              <a:rPr lang="en-US" dirty="0" err="1"/>
              <a:t>codelab</a:t>
            </a:r>
            <a:r>
              <a:rPr lang="en-US" dirty="0"/>
              <a:t> work. How does a text convey feelings? How does a computer understand things?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451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 these sentences happy or sad?</a:t>
            </a:r>
            <a:r>
              <a:rPr lang="en-US" baseline="0" dirty="0"/>
              <a:t> How do you tell? Positive or negative?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9664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Happy? Sad? How do you</a:t>
            </a:r>
            <a:r>
              <a:rPr lang="en-US" baseline="0" dirty="0"/>
              <a:t> tell? Maybe there’s some other kind of measure?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687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Happy? Sad? How do you</a:t>
            </a:r>
            <a:r>
              <a:rPr lang="en-US" baseline="0" dirty="0"/>
              <a:t> tell? Maybe there’s some other kind </a:t>
            </a:r>
            <a:r>
              <a:rPr lang="en-US" baseline="0"/>
              <a:t>of measure?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1873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remember computers like numbers. How might we register this?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7729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8646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we add up</a:t>
            </a:r>
            <a:r>
              <a:rPr lang="en-US" baseline="0" dirty="0"/>
              <a:t> the numbers for the sentence, we can get a sense of the feelings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5708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in particular that Fahrenheit</a:t>
            </a:r>
            <a:r>
              <a:rPr lang="en-US" baseline="0" dirty="0"/>
              <a:t> 451 appears to be the happiest.</a:t>
            </a:r>
          </a:p>
          <a:p>
            <a:endParaRPr lang="en-US" baseline="0" dirty="0"/>
          </a:p>
          <a:p>
            <a:r>
              <a:rPr lang="en-US" baseline="0" dirty="0"/>
              <a:t>Key concepts to point them towards:</a:t>
            </a:r>
          </a:p>
          <a:p>
            <a:endParaRPr lang="en-US" baseline="0" dirty="0"/>
          </a:p>
          <a:p>
            <a:r>
              <a:rPr lang="en-US" baseline="0" dirty="0"/>
              <a:t>How do they move from individual words to whole paragraphs' sentiment?</a:t>
            </a:r>
          </a:p>
          <a:p>
            <a:r>
              <a:rPr lang="en-US" baseline="0" dirty="0"/>
              <a:t>How do they compare or not the sentiment of each others? They need to have the same common number system</a:t>
            </a:r>
          </a:p>
          <a:p>
            <a:r>
              <a:rPr lang="en-US" baseline="0" dirty="0"/>
              <a:t>They need a dictionary of words that have sentiments</a:t>
            </a:r>
          </a:p>
          <a:p>
            <a:r>
              <a:rPr lang="en-US" baseline="0" dirty="0"/>
              <a:t>Does every word have a polarity associated with it?</a:t>
            </a:r>
          </a:p>
          <a:p>
            <a:r>
              <a:rPr lang="en-US" baseline="0" dirty="0"/>
              <a:t>What about context? How would you account for context?</a:t>
            </a:r>
          </a:p>
          <a:p>
            <a:r>
              <a:rPr lang="en-US" baseline="0" dirty="0"/>
              <a:t>Anything else?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1707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Points that might come up?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3533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9775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can you do with sentiment analysis?</a:t>
            </a:r>
          </a:p>
          <a:p>
            <a:r>
              <a:rPr lang="en-US" dirty="0"/>
              <a:t>From a humanities perspective, you can say that by registering</a:t>
            </a:r>
            <a:r>
              <a:rPr lang="en-US" baseline="0" dirty="0"/>
              <a:t> moments of happiness or sadness over time, you can measure a plot’s tension. You could get a sense of the plot arc in a text. </a:t>
            </a:r>
            <a:r>
              <a:rPr lang="en-US" baseline="0" dirty="0" err="1"/>
              <a:t>Jockers</a:t>
            </a:r>
            <a:r>
              <a:rPr lang="en-US" baseline="0" dirty="0"/>
              <a:t> claims there are really only six shapes if you do this kind of math.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54080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16102-379F-5C21-AC38-680A525A1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006515-8BB9-273E-9028-20A6C9E03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D95E37-F3B3-9A33-1FC4-BD28D892CB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Other questions that should be asked?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A86FD-C11E-3912-12AA-F4FE796DC0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2B715B-618E-024D-9745-4BA83BFF9D40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2001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B715B-618E-024D-9745-4BA83BFF9D40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8709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3F0B4-8340-4536-DF64-C64072688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FEA2BA-DCEE-7A11-A76B-9448A6A341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7056C9-FE71-858A-825A-030576229E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28CA95-F6B9-530D-0498-C41ABBDC2C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B715B-618E-024D-9745-4BA83BFF9D4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3270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B715B-618E-024D-9745-4BA83BFF9D4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133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1AA9B-75E5-FD4C-9434-81A1526FDA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78FADD-A0D9-7343-9724-ACAC00BCA3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41052E-22FC-AD41-88F7-26DA74BF1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BF15DC-F4EC-574E-8B34-01608999A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F3A25D-AECB-CB4E-9DDC-955BC789F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441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C90D5-3C4D-C844-9E54-93A2BA33C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C89EB-F9CD-FB45-B306-0084799A1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EB14F-ECBE-A044-9080-A98B7039C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73ED3-393B-BE45-8BDD-A9322848E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6B4E5-0FEE-384E-A55D-1299E48C2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429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4152C-DA96-6F4D-A6A5-9A1C8A073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F28458-0275-3243-B5E2-D8478BF4D0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0C4CFE-C3A2-EE4A-A07A-60F407FF4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95C880-FC9B-DF45-B218-AB6096F9B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F2DEC0-DD8C-2146-B2AB-4225AD970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923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A7966-6A9E-BB47-B0D5-022A8BFFF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E63D0-B606-D045-9BC7-8A7C4FBD8B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0A7184-08BF-6946-A73B-46C8EEEF84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CC4CD5-DF04-CB4A-B452-8CF8F7484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7EE44C-8245-FC4A-8644-B0BC387B0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7292A2-044B-F74F-AE51-9A0763307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114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77B23-7D5B-114B-977D-FF95CB19C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F2F6F6-0712-0C44-AFE9-CF79B5C7F8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1234FE-C8EB-F346-9041-D1F62ADB59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059DA7-8B0B-004E-BE37-608303523C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C0F461-4073-C248-A264-29ACEA19F3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6C98B1-9C5F-0848-8498-B25F76B87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B9C569-C952-5B46-966A-B8B2841AD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608B8F-C05C-F74F-A75E-DEDD8185D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2612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5BAF5-88D0-1B4E-B9D7-181B7AB37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DBA150-C058-EA41-A2DE-47777EE4A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C23133-E357-C547-B6C0-7BFD2E77C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015D96-FA65-4A4F-9C6E-70F6CC0E2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344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B82D3E-3BC4-8C45-A0CC-C0F7A2D99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140ADA-5463-6741-9388-4CBC8AEE2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7D47FC-D29D-314C-A619-689821FA6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000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2A72C-08AA-664F-A164-4B0C154F3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294DA-9248-6946-89BB-9B4A307D5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1B0514-EE3D-3140-82DA-235DC7B9F1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7C5ED0-B451-FF46-B735-33285D1DA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4FA009-6F34-2542-9265-C618E3202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6A06DB-D25C-2A45-8014-83C3A146E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604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FFB8D-CD50-DC4C-82B3-D070C1E72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DC98FB-CE17-F148-8C37-C140BDA9EE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CC15CF-8754-A643-9228-87065AB146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B8B5C9-FE70-504D-B355-17395ED08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530C92-7011-3643-89B6-B662EA026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9BEA92-5B64-E14E-8F26-49762A043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0559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0C500-7ACC-9444-828A-C4CDE26ED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4BC144-9DE1-4B42-9FA5-2C98BE1794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7EC5EB-BBED-6A48-B8C7-968879F53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5834CD-8410-144F-8BE9-EF1272453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FDE0DE-9CD3-E14B-923E-DFAF82799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0030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3C34DE1-A6C2-4840-A81B-1725562E4F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680262-9136-874E-A594-41883D7CD2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C9EAF5-1CE7-A84D-8E0C-869746F52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B14378-B34C-5F4D-A751-23459510F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4D6E2C-33BD-2C41-A4B5-6B66F5E5D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623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90644D-4FE3-4D42-9EDB-76E7ECAFB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CC6A28-9443-C249-B752-70E534D590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ED9CED-0862-0947-85E3-16D1ABDB4C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939D22-5EF9-9546-AAFA-1A29548E4F74}" type="datetimeFigureOut">
              <a:t>10/23/24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DF948B-9408-DF4C-B7D2-87868BF613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E72953-A870-6D4D-A07C-4349679D67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10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talpedagogy.mla.hcommons.org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4B3CD-A195-6145-A136-A424087C10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30400"/>
            <a:ext cx="9144000" cy="2997200"/>
          </a:xfrm>
        </p:spPr>
        <p:txBody>
          <a:bodyPr>
            <a:normAutofit fontScale="90000"/>
          </a:bodyPr>
          <a:lstStyle/>
          <a:p>
            <a:r>
              <a:rPr lang="en-US" dirty="0"/>
              <a:t>Workshop on Workshops</a:t>
            </a:r>
            <a:br>
              <a:rPr lang="en-US" dirty="0"/>
            </a:br>
            <a:r>
              <a:rPr lang="en-US" dirty="0"/>
              <a:t>or</a:t>
            </a:r>
            <a:br>
              <a:rPr lang="en-US" dirty="0"/>
            </a:br>
            <a:r>
              <a:rPr lang="en-US" dirty="0"/>
              <a:t>Teaching Yourself a Thing to Teach Others</a:t>
            </a:r>
          </a:p>
        </p:txBody>
      </p:sp>
    </p:spTree>
    <p:extLst>
      <p:ext uri="{BB962C8B-B14F-4D97-AF65-F5344CB8AC3E}">
        <p14:creationId xmlns:p14="http://schemas.microsoft.com/office/powerpoint/2010/main" val="18568573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AE940-B64B-3C44-A159-BF5C5462B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B9B70-C367-2044-BBEB-33A895F06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Frame next assignment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Discuss concept behind it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Share and work through Brandon's example lesson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Discuss Critical Digital Pedagogy</a:t>
            </a:r>
          </a:p>
        </p:txBody>
      </p:sp>
    </p:spTree>
    <p:extLst>
      <p:ext uri="{BB962C8B-B14F-4D97-AF65-F5344CB8AC3E}">
        <p14:creationId xmlns:p14="http://schemas.microsoft.com/office/powerpoint/2010/main" val="3772974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E81A8-FF1B-C345-AA4A-46946395F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DH Workshop &amp; Teaching Statements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ADEA3-2F02-1346-BCCA-17D92A5B3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Due December 4th</a:t>
            </a:r>
          </a:p>
          <a:p>
            <a:r>
              <a:rPr lang="en-US" dirty="0"/>
              <a:t>Use it as an opportunity to teach to learn and work on your pedagogy</a:t>
            </a:r>
          </a:p>
          <a:p>
            <a:r>
              <a:rPr lang="en-US" dirty="0"/>
              <a:t>Twin assignments</a:t>
            </a:r>
          </a:p>
          <a:p>
            <a:pPr lvl="1"/>
            <a:r>
              <a:rPr lang="en-US" dirty="0"/>
              <a:t>Develop a low-tech, pencil and paper (</a:t>
            </a:r>
            <a:r>
              <a:rPr lang="en-US" dirty="0" err="1"/>
              <a:t>ish</a:t>
            </a:r>
            <a:r>
              <a:rPr lang="en-US" dirty="0"/>
              <a:t>) digital humanities workshop you could give based on your individual research interests.</a:t>
            </a:r>
          </a:p>
          <a:p>
            <a:pPr lvl="1"/>
            <a:r>
              <a:rPr lang="en-US" dirty="0"/>
              <a:t>Draft teaching statements that incorporate digital pedagogy as relevant</a:t>
            </a:r>
          </a:p>
          <a:p>
            <a:r>
              <a:rPr lang="en-US" dirty="0"/>
              <a:t>Work with each other (and staff) to workshop your teaching materials and teaching statements. (workshop on Nov 6)</a:t>
            </a:r>
          </a:p>
          <a:p>
            <a:r>
              <a:rPr lang="en-US" dirty="0"/>
              <a:t>Outcome will be a blog post on one of the two</a:t>
            </a:r>
          </a:p>
          <a:p>
            <a:r>
              <a:rPr lang="en-US" dirty="0"/>
              <a:t>You’ll teach the workshop at the beginning of the spring semester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7204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0589EB0-6428-7C37-BCBD-415CDEA08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0"/>
            <a:ext cx="10922000" cy="6826250"/>
          </a:xfrm>
          <a:prstGeom prst="rect">
            <a:avLst/>
          </a:prstGeom>
        </p:spPr>
      </p:pic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457BB4F9-C918-56AE-BF45-4360065C5F0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5084017"/>
              </p:ext>
            </p:extLst>
          </p:nvPr>
        </p:nvGraphicFramePr>
        <p:xfrm>
          <a:off x="3191934" y="5945717"/>
          <a:ext cx="5808133" cy="8805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962907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8E53E-300C-8B48-B452-4A45CEB82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Buttonology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63EB3-264B-D74C-AA8B-51D5DEFD88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"Knowing how to upload texts into a tool like Voyant does not help researchers think about what texts should be uploaded, how selecting data relates to a research question, or even what constitutes an effective research question." </a:t>
            </a:r>
          </a:p>
          <a:p>
            <a:r>
              <a:rPr lang="en-US"/>
              <a:t>"Beyond Buttonology: Digital Humanities, Digital Pedagogy, and the ACRL Framework" – John E. Russell and Merinda Kaye Hensley</a:t>
            </a:r>
          </a:p>
          <a:p>
            <a:r>
              <a:rPr lang="en-US"/>
              <a:t>That's the provocation for this unit.</a:t>
            </a:r>
          </a:p>
        </p:txBody>
      </p:sp>
    </p:spTree>
    <p:extLst>
      <p:ext uri="{BB962C8B-B14F-4D97-AF65-F5344CB8AC3E}">
        <p14:creationId xmlns:p14="http://schemas.microsoft.com/office/powerpoint/2010/main" val="3706249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530D9-967D-054D-86B5-AB5AF941D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Workshop – Ways to Read a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7B1E2-2699-B345-A3F9-45825038A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One-shot workshop </a:t>
            </a:r>
          </a:p>
          <a:p>
            <a:r>
              <a:rPr lang="en-US" dirty="0"/>
              <a:t>Uses basically no technology but </a:t>
            </a:r>
            <a:r>
              <a:rPr lang="en-US" dirty="0" err="1"/>
              <a:t>powerpoint</a:t>
            </a:r>
            <a:endParaRPr lang="en-US" dirty="0"/>
          </a:p>
          <a:p>
            <a:r>
              <a:rPr lang="en-US" dirty="0"/>
              <a:t>Basically it's text analysis with pen and paper</a:t>
            </a:r>
          </a:p>
          <a:p>
            <a:r>
              <a:rPr lang="en-US" dirty="0"/>
              <a:t>In what follows, you’ll get a micro-version of the workshop and then we’ll reflect on the pedagogy behind it together</a:t>
            </a:r>
          </a:p>
          <a:p>
            <a:r>
              <a:rPr lang="en-US" dirty="0"/>
              <a:t>Can find it written up here - https://</a:t>
            </a:r>
            <a:r>
              <a:rPr lang="en-US" dirty="0" err="1"/>
              <a:t>walshbr.com</a:t>
            </a:r>
            <a:r>
              <a:rPr lang="en-US" dirty="0"/>
              <a:t>/blog/ways-to-read/</a:t>
            </a:r>
          </a:p>
        </p:txBody>
      </p:sp>
    </p:spTree>
    <p:extLst>
      <p:ext uri="{BB962C8B-B14F-4D97-AF65-F5344CB8AC3E}">
        <p14:creationId xmlns:p14="http://schemas.microsoft.com/office/powerpoint/2010/main" val="3052535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192C54-6A19-934F-AEC8-6122064F5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Embedded Workshop Starts 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221DF-E173-E140-B562-CDC304DEEF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Slides start here!</a:t>
            </a:r>
          </a:p>
          <a:p>
            <a:r>
              <a:rPr lang="en-US" dirty="0"/>
              <a:t>At this point in the original iteration, I had already introduced:</a:t>
            </a:r>
          </a:p>
          <a:p>
            <a:pPr lvl="1"/>
            <a:r>
              <a:rPr lang="en-US" dirty="0"/>
              <a:t>Close reading (literary interpretation by paying attention to the text)</a:t>
            </a:r>
          </a:p>
          <a:p>
            <a:pPr lvl="1"/>
            <a:r>
              <a:rPr lang="en-US" dirty="0"/>
              <a:t>Bag of words approaches to texts (basically just issues in word counting as a computer would do it)</a:t>
            </a:r>
          </a:p>
          <a:p>
            <a:pPr lvl="1"/>
            <a:r>
              <a:rPr lang="en-US" dirty="0"/>
              <a:t>Now moving into how a computer can do more complicated forms of analysis.</a:t>
            </a:r>
          </a:p>
          <a:p>
            <a:r>
              <a:rPr lang="en-US" dirty="0"/>
              <a:t>But also works as a standalone</a:t>
            </a:r>
          </a:p>
        </p:txBody>
      </p:sp>
    </p:spTree>
    <p:extLst>
      <p:ext uri="{BB962C8B-B14F-4D97-AF65-F5344CB8AC3E}">
        <p14:creationId xmlns:p14="http://schemas.microsoft.com/office/powerpoint/2010/main" val="4294531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empty grid">
            <a:extLst>
              <a:ext uri="{FF2B5EF4-FFF2-40B4-BE49-F238E27FC236}">
                <a16:creationId xmlns:a16="http://schemas.microsoft.com/office/drawing/2014/main" id="{D9A5BB00-8FB2-2947-9294-BE86A1729D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1000" y="1447800"/>
            <a:ext cx="6350000" cy="396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6D69151-5225-CC48-80F5-E2DAFF4F03EA}"/>
              </a:ext>
            </a:extLst>
          </p:cNvPr>
          <p:cNvSpPr/>
          <p:nvPr/>
        </p:nvSpPr>
        <p:spPr>
          <a:xfrm>
            <a:off x="4272704" y="5750467"/>
            <a:ext cx="3646591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000" dirty="0"/>
              <a:t>https://</a:t>
            </a:r>
            <a:r>
              <a:rPr lang="en-US" sz="3000" dirty="0" err="1"/>
              <a:t>sive.rs</a:t>
            </a:r>
            <a:r>
              <a:rPr lang="en-US" sz="3000" dirty="0"/>
              <a:t>/drama</a:t>
            </a:r>
          </a:p>
        </p:txBody>
      </p:sp>
    </p:spTree>
    <p:extLst>
      <p:ext uri="{BB962C8B-B14F-4D97-AF65-F5344CB8AC3E}">
        <p14:creationId xmlns:p14="http://schemas.microsoft.com/office/powerpoint/2010/main" val="1737859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CA731A68-9B19-AE40-9038-84AB05B8D5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1000" y="1314450"/>
            <a:ext cx="635000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6946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C6A69-1028-414E-7D44-81AB7AD32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2764070"/>
            <a:ext cx="5299152" cy="1329860"/>
          </a:xfrm>
        </p:spPr>
        <p:txBody>
          <a:bodyPr>
            <a:normAutofit/>
          </a:bodyPr>
          <a:lstStyle/>
          <a:p>
            <a:r>
              <a:rPr lang="en-US" dirty="0"/>
              <a:t>Design by Maya </a:t>
            </a:r>
            <a:r>
              <a:rPr lang="en-US" dirty="0" err="1"/>
              <a:t>Eilam</a:t>
            </a:r>
            <a:endParaRPr lang="en-US" dirty="0"/>
          </a:p>
        </p:txBody>
      </p:sp>
      <p:pic>
        <p:nvPicPr>
          <p:cNvPr id="1026" name="Picture 2" descr="Kurt Vonnegut Diagrams the Shape of All Stories in a Master's Thesis  Rejected by U. Chicago | Open Culture">
            <a:extLst>
              <a:ext uri="{FF2B5EF4-FFF2-40B4-BE49-F238E27FC236}">
                <a16:creationId xmlns:a16="http://schemas.microsoft.com/office/drawing/2014/main" id="{377D1B6D-E429-2B4F-0A0A-F5845F3C0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987" y="-50180"/>
            <a:ext cx="44386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62606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Computers are very literal - they struggle with nuance.</a:t>
            </a:r>
          </a:p>
          <a:p>
            <a:r>
              <a:rPr lang="en-US" dirty="0"/>
              <a:t>How can they deal with complicated things like text?</a:t>
            </a:r>
          </a:p>
          <a:p>
            <a:r>
              <a:rPr lang="en-US" dirty="0"/>
              <a:t>Let’s look at one example - how does a text convey feeling?</a:t>
            </a:r>
          </a:p>
          <a:p>
            <a:r>
              <a:rPr lang="en-US" dirty="0"/>
              <a:t>Is it happy? Sad? Positive or negative?</a:t>
            </a:r>
          </a:p>
          <a:p>
            <a:r>
              <a:rPr lang="en-US" dirty="0"/>
              <a:t>Complicated questions!</a:t>
            </a:r>
          </a:p>
          <a:p>
            <a:r>
              <a:rPr lang="en-US" dirty="0"/>
              <a:t>Let’s try to tell with simple examples…</a:t>
            </a:r>
          </a:p>
        </p:txBody>
      </p:sp>
    </p:spTree>
    <p:extLst>
      <p:ext uri="{BB962C8B-B14F-4D97-AF65-F5344CB8AC3E}">
        <p14:creationId xmlns:p14="http://schemas.microsoft.com/office/powerpoint/2010/main" val="129063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“I am very happy.”</a:t>
            </a:r>
          </a:p>
          <a:p>
            <a:endParaRPr lang="en-US" dirty="0"/>
          </a:p>
          <a:p>
            <a:r>
              <a:rPr lang="en-US" dirty="0"/>
              <a:t>“She is so sad.”</a:t>
            </a:r>
          </a:p>
          <a:p>
            <a:endParaRPr lang="en-US" dirty="0"/>
          </a:p>
          <a:p>
            <a:r>
              <a:rPr lang="en-US" dirty="0"/>
              <a:t>“Today was a little off but not too bad.”</a:t>
            </a:r>
          </a:p>
        </p:txBody>
      </p:sp>
    </p:spTree>
    <p:extLst>
      <p:ext uri="{BB962C8B-B14F-4D97-AF65-F5344CB8AC3E}">
        <p14:creationId xmlns:p14="http://schemas.microsoft.com/office/powerpoint/2010/main" val="17309197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"It was the best of times, it was the worst of times…”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60101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"It was the best of times, it was the worst of times…”</a:t>
            </a:r>
          </a:p>
          <a:p>
            <a:endParaRPr lang="en-US" dirty="0"/>
          </a:p>
          <a:p>
            <a:r>
              <a:rPr lang="en-US" dirty="0"/>
              <a:t>Not a clear answer overall. If we can’t tell, how would a computer?</a:t>
            </a:r>
          </a:p>
          <a:p>
            <a:r>
              <a:rPr lang="en-US" dirty="0"/>
              <a:t>We need a better way to register this. Let’s go word by word.</a:t>
            </a:r>
          </a:p>
        </p:txBody>
      </p:sp>
    </p:spTree>
    <p:extLst>
      <p:ext uri="{BB962C8B-B14F-4D97-AF65-F5344CB8AC3E}">
        <p14:creationId xmlns:p14="http://schemas.microsoft.com/office/powerpoint/2010/main" val="12321547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81201" y="1720840"/>
            <a:ext cx="8229600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500" dirty="0"/>
              <a:t>"It </a:t>
            </a:r>
          </a:p>
          <a:p>
            <a:r>
              <a:rPr lang="en-US" sz="2500" dirty="0"/>
              <a:t>was </a:t>
            </a:r>
          </a:p>
          <a:p>
            <a:r>
              <a:rPr lang="en-US" sz="2500" dirty="0"/>
              <a:t>the </a:t>
            </a:r>
          </a:p>
          <a:p>
            <a:r>
              <a:rPr lang="en-US" sz="2500" dirty="0"/>
              <a:t>best			happy! / positive</a:t>
            </a:r>
          </a:p>
          <a:p>
            <a:r>
              <a:rPr lang="en-US" sz="2500" dirty="0"/>
              <a:t>of </a:t>
            </a:r>
          </a:p>
          <a:p>
            <a:r>
              <a:rPr lang="en-US" sz="2500" dirty="0"/>
              <a:t>times, </a:t>
            </a:r>
          </a:p>
          <a:p>
            <a:r>
              <a:rPr lang="en-US" sz="2500" dirty="0"/>
              <a:t>it </a:t>
            </a:r>
          </a:p>
          <a:p>
            <a:r>
              <a:rPr lang="en-US" sz="2500" dirty="0"/>
              <a:t>was </a:t>
            </a:r>
          </a:p>
          <a:p>
            <a:r>
              <a:rPr lang="en-US" sz="2500" dirty="0"/>
              <a:t>the </a:t>
            </a:r>
          </a:p>
          <a:p>
            <a:r>
              <a:rPr lang="en-US" sz="2500" dirty="0"/>
              <a:t>worst			sad! / negative</a:t>
            </a:r>
          </a:p>
          <a:p>
            <a:r>
              <a:rPr lang="en-US" sz="2500" dirty="0"/>
              <a:t>of </a:t>
            </a:r>
          </a:p>
          <a:p>
            <a:r>
              <a:rPr lang="en-US" sz="2500" dirty="0"/>
              <a:t>times…"</a:t>
            </a:r>
          </a:p>
        </p:txBody>
      </p:sp>
    </p:spTree>
    <p:extLst>
      <p:ext uri="{BB962C8B-B14F-4D97-AF65-F5344CB8AC3E}">
        <p14:creationId xmlns:p14="http://schemas.microsoft.com/office/powerpoint/2010/main" val="37208411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81201" y="1720840"/>
            <a:ext cx="8229600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500" dirty="0"/>
              <a:t>"It </a:t>
            </a:r>
          </a:p>
          <a:p>
            <a:r>
              <a:rPr lang="en-US" sz="2500" dirty="0"/>
              <a:t>was </a:t>
            </a:r>
          </a:p>
          <a:p>
            <a:r>
              <a:rPr lang="en-US" sz="2500" dirty="0"/>
              <a:t>the </a:t>
            </a:r>
          </a:p>
          <a:p>
            <a:r>
              <a:rPr lang="en-US" sz="2500" dirty="0"/>
              <a:t>best			happy! / positive / 1</a:t>
            </a:r>
          </a:p>
          <a:p>
            <a:r>
              <a:rPr lang="en-US" sz="2500" dirty="0"/>
              <a:t>of </a:t>
            </a:r>
          </a:p>
          <a:p>
            <a:r>
              <a:rPr lang="en-US" sz="2500" dirty="0"/>
              <a:t>times, </a:t>
            </a:r>
          </a:p>
          <a:p>
            <a:r>
              <a:rPr lang="en-US" sz="2500" dirty="0"/>
              <a:t>it </a:t>
            </a:r>
          </a:p>
          <a:p>
            <a:r>
              <a:rPr lang="en-US" sz="2500" dirty="0"/>
              <a:t>was </a:t>
            </a:r>
          </a:p>
          <a:p>
            <a:r>
              <a:rPr lang="en-US" sz="2500" dirty="0"/>
              <a:t>the </a:t>
            </a:r>
          </a:p>
          <a:p>
            <a:r>
              <a:rPr lang="en-US" sz="2500" dirty="0"/>
              <a:t>worst			sad! / negative / -1</a:t>
            </a:r>
          </a:p>
          <a:p>
            <a:r>
              <a:rPr lang="en-US" sz="2500" dirty="0"/>
              <a:t>of </a:t>
            </a:r>
          </a:p>
          <a:p>
            <a:r>
              <a:rPr lang="en-US" sz="2500" dirty="0"/>
              <a:t>times…"</a:t>
            </a:r>
          </a:p>
        </p:txBody>
      </p:sp>
    </p:spTree>
    <p:extLst>
      <p:ext uri="{BB962C8B-B14F-4D97-AF65-F5344CB8AC3E}">
        <p14:creationId xmlns:p14="http://schemas.microsoft.com/office/powerpoint/2010/main" val="30169966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"It was the best of times, it was the worst of times…”</a:t>
            </a:r>
          </a:p>
          <a:p>
            <a:pPr marL="0" indent="0">
              <a:buNone/>
            </a:pPr>
            <a:r>
              <a:rPr lang="en-US" dirty="0"/>
              <a:t>		  1			            -1 				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Total = 0</a:t>
            </a:r>
          </a:p>
          <a:p>
            <a:pPr marL="0" indent="0">
              <a:buNone/>
            </a:pPr>
            <a:r>
              <a:rPr lang="en-US" dirty="0"/>
              <a:t>Overall neutral sentiment?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So we can get at the emotional score of a sentence, by</a:t>
            </a:r>
          </a:p>
          <a:p>
            <a:pPr marL="0" indent="0">
              <a:buNone/>
            </a:pPr>
            <a:r>
              <a:rPr lang="en-US" dirty="0"/>
              <a:t>a) assigning values to +/- words and b) counting up those values</a:t>
            </a:r>
          </a:p>
        </p:txBody>
      </p:sp>
    </p:spTree>
    <p:extLst>
      <p:ext uri="{BB962C8B-B14F-4D97-AF65-F5344CB8AC3E}">
        <p14:creationId xmlns:p14="http://schemas.microsoft.com/office/powerpoint/2010/main" val="37035517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Glance at the excerpts on your handout and think about them in this way. </a:t>
            </a:r>
          </a:p>
          <a:p>
            <a:r>
              <a:rPr lang="en-US" dirty="0"/>
              <a:t>Which do you expect to be happiest? Saddest?</a:t>
            </a:r>
          </a:p>
          <a:p>
            <a:r>
              <a:rPr lang="en-US" dirty="0"/>
              <a:t>Do this mathematical charting for at least one of the paragraphs.</a:t>
            </a:r>
          </a:p>
          <a:p>
            <a:r>
              <a:rPr lang="en-US" dirty="0"/>
              <a:t>What problems or questions does this raise?</a:t>
            </a:r>
          </a:p>
          <a:p>
            <a:endParaRPr lang="en-US" dirty="0"/>
          </a:p>
          <a:p>
            <a:r>
              <a:rPr lang="en-US" dirty="0"/>
              <a:t>Do in pairs</a:t>
            </a:r>
          </a:p>
        </p:txBody>
      </p:sp>
    </p:spTree>
    <p:extLst>
      <p:ext uri="{BB962C8B-B14F-4D97-AF65-F5344CB8AC3E}">
        <p14:creationId xmlns:p14="http://schemas.microsoft.com/office/powerpoint/2010/main" val="19549558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imagine a range of emotions: good, better, best.</a:t>
            </a:r>
          </a:p>
          <a:p>
            <a:r>
              <a:rPr lang="en-US" dirty="0"/>
              <a:t>So you could use a range of numbers: good = +1, better= +3, best = +5</a:t>
            </a:r>
          </a:p>
          <a:p>
            <a:r>
              <a:rPr lang="en-US" dirty="0"/>
              <a:t>Say, assign any emotion-laden word a number between -5 and +5. </a:t>
            </a:r>
          </a:p>
          <a:p>
            <a:r>
              <a:rPr lang="en-US" dirty="0"/>
              <a:t>Keep in mind that you’re not reading for context. Simply on a word-by-word basis.</a:t>
            </a:r>
          </a:p>
          <a:p>
            <a:r>
              <a:rPr lang="en-US" dirty="0"/>
              <a:t>So “yes” would be positive. “no” would be negative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20002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do we account for context?</a:t>
            </a:r>
          </a:p>
          <a:p>
            <a:r>
              <a:rPr lang="en-US" dirty="0"/>
              <a:t>How do we make sure our results are comparable?</a:t>
            </a:r>
          </a:p>
          <a:p>
            <a:r>
              <a:rPr lang="en-US" dirty="0"/>
              <a:t>How can we make sure everyone is getting the same results so that we could compare readings?</a:t>
            </a:r>
          </a:p>
          <a:p>
            <a:r>
              <a:rPr lang="en-US" dirty="0"/>
              <a:t>How do you account for longer texts?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9441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Content Placeholder 4" descr="Text&#10;&#10;Description automatically generated">
            <a:extLst>
              <a:ext uri="{FF2B5EF4-FFF2-40B4-BE49-F238E27FC236}">
                <a16:creationId xmlns:a16="http://schemas.microsoft.com/office/drawing/2014/main" id="{EB6E7B36-031B-DF49-89B2-C3F128D7E1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759" r="3113" b="1"/>
          <a:stretch/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3088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84443-AE25-E19F-A61E-EAB3FF449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7E12424-0267-7389-9D44-3BE91458AD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897125"/>
            <a:ext cx="12192000" cy="1325563"/>
          </a:xfrm>
        </p:spPr>
      </p:pic>
    </p:spTree>
    <p:extLst>
      <p:ext uri="{BB962C8B-B14F-4D97-AF65-F5344CB8AC3E}">
        <p14:creationId xmlns:p14="http://schemas.microsoft.com/office/powerpoint/2010/main" val="42501308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 in Use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1698" y="1417639"/>
            <a:ext cx="6448604" cy="46034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19628" y="6021085"/>
            <a:ext cx="5352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http://</a:t>
            </a:r>
            <a:r>
              <a:rPr lang="en-US" dirty="0" err="1"/>
              <a:t>www.matthewjockers.net</a:t>
            </a:r>
            <a:r>
              <a:rPr lang="en-US" dirty="0"/>
              <a:t>/2015/02/02/</a:t>
            </a:r>
            <a:r>
              <a:rPr lang="en-US" dirty="0" err="1"/>
              <a:t>syuzhet</a:t>
            </a:r>
            <a:r>
              <a:rPr lang="en-US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9665609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7F0A7-ED78-5F4A-AB40-E5E81442B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Reflect on the Activity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2C321-5B80-D843-85F3-BC9F93930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 thoughts on what we did.</a:t>
            </a:r>
          </a:p>
          <a:p>
            <a:r>
              <a:rPr lang="en-US" dirty="0"/>
              <a:t>Thoughts on other technical workshops you’ve been in.</a:t>
            </a:r>
          </a:p>
          <a:p>
            <a:r>
              <a:rPr lang="en-US" dirty="0"/>
              <a:t>Bring in the readings as relevant, though we’ll do more with those in a bit.</a:t>
            </a:r>
          </a:p>
        </p:txBody>
      </p:sp>
    </p:spTree>
    <p:extLst>
      <p:ext uri="{BB962C8B-B14F-4D97-AF65-F5344CB8AC3E}">
        <p14:creationId xmlns:p14="http://schemas.microsoft.com/office/powerpoint/2010/main" val="15092439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7F0A7-ED78-5F4A-AB40-E5E81442B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Reflect on the Activity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2C321-5B80-D843-85F3-BC9F93930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Low risk of technical problems going wrong</a:t>
            </a:r>
          </a:p>
          <a:p>
            <a:r>
              <a:rPr lang="en-US" dirty="0"/>
              <a:t>Students don't need any programming to participate</a:t>
            </a:r>
          </a:p>
          <a:p>
            <a:r>
              <a:rPr lang="en-US" dirty="0"/>
              <a:t>Gets concepts across but the students arrive at them on their own</a:t>
            </a:r>
          </a:p>
          <a:p>
            <a:r>
              <a:rPr lang="en-US" dirty="0"/>
              <a:t>Now they'll know what the tools are doing, which removes one element of confusion when learning technical tasks.</a:t>
            </a:r>
          </a:p>
          <a:p>
            <a:r>
              <a:rPr lang="en-US" dirty="0"/>
              <a:t>Show them where to go next</a:t>
            </a:r>
          </a:p>
        </p:txBody>
      </p:sp>
    </p:spTree>
    <p:extLst>
      <p:ext uri="{BB962C8B-B14F-4D97-AF65-F5344CB8AC3E}">
        <p14:creationId xmlns:p14="http://schemas.microsoft.com/office/powerpoint/2010/main" val="23384279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6E1CA-2A2B-6266-0552-9251FA085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10D87-9DF9-ECB9-674D-1934C2E3C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DH Workshop &amp; Teaching Statements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C71A68-5DA6-450C-0AD5-42DB8E269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Due December 4th</a:t>
            </a:r>
          </a:p>
          <a:p>
            <a:r>
              <a:rPr lang="en-US" dirty="0"/>
              <a:t>Use it as an opportunity to teach to learn and work on your pedagogy</a:t>
            </a:r>
          </a:p>
          <a:p>
            <a:r>
              <a:rPr lang="en-US" dirty="0"/>
              <a:t>Twin assignments</a:t>
            </a:r>
          </a:p>
          <a:p>
            <a:pPr lvl="1"/>
            <a:r>
              <a:rPr lang="en-US" dirty="0"/>
              <a:t>Develop a low-tech, pencil and paper (</a:t>
            </a:r>
            <a:r>
              <a:rPr lang="en-US" dirty="0" err="1"/>
              <a:t>ish</a:t>
            </a:r>
            <a:r>
              <a:rPr lang="en-US" dirty="0"/>
              <a:t>) digital humanities workshop you could give based on your individual research interests.</a:t>
            </a:r>
          </a:p>
          <a:p>
            <a:pPr lvl="1"/>
            <a:r>
              <a:rPr lang="en-US" dirty="0"/>
              <a:t>Draft teaching statements that incorporate digital pedagogy as relevant</a:t>
            </a:r>
          </a:p>
          <a:p>
            <a:r>
              <a:rPr lang="en-US" dirty="0"/>
              <a:t>Work with each other (and staff) to workshop your teaching materials and teaching statements. (workshop on Nov 6)</a:t>
            </a:r>
          </a:p>
          <a:p>
            <a:r>
              <a:rPr lang="en-US" dirty="0"/>
              <a:t>Outcome will be a blog post on one of the two</a:t>
            </a:r>
          </a:p>
          <a:p>
            <a:r>
              <a:rPr lang="en-US" dirty="0"/>
              <a:t>You’ll teach the workshop at the beginning of the spring semester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02666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836A-906F-E54A-8420-B19EB122E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there by Backwards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9CF34-3B0D-B24F-B1BE-B3F59FD7C9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 rtl="0" fontAlgn="base">
              <a:buFont typeface="+mj-lt"/>
              <a:buAutoNum type="arabicPeriod"/>
            </a:pP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Identify desired results </a:t>
            </a:r>
          </a:p>
          <a:p>
            <a:pPr lvl="1" fontAlgn="base"/>
            <a:r>
              <a:rPr lang="en-US" dirty="0">
                <a:solidFill>
                  <a:srgbClr val="000000"/>
                </a:solidFill>
              </a:rPr>
              <a:t>What are your learning goals?</a:t>
            </a:r>
            <a:endParaRPr lang="en-US" b="0" i="0" u="none" strike="noStrike" dirty="0">
              <a:solidFill>
                <a:srgbClr val="000000"/>
              </a:solidFill>
              <a:effectLst/>
            </a:endParaRPr>
          </a:p>
          <a:p>
            <a:pPr marL="514350" indent="-514350" rtl="0" fontAlgn="base">
              <a:buFont typeface="+mj-lt"/>
              <a:buAutoNum type="arabicPeriod"/>
            </a:pP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Determine acceptable evidence that those have been met </a:t>
            </a:r>
          </a:p>
          <a:p>
            <a:pPr lvl="1" fontAlgn="base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What are alternative ways of demonstrating them beyond using a tool/interface?</a:t>
            </a:r>
          </a:p>
          <a:p>
            <a:pPr marL="514350" indent="-514350" rtl="0" fontAlgn="base">
              <a:buFont typeface="+mj-lt"/>
              <a:buAutoNum type="arabicPeriod"/>
            </a:pP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Plan learning experiences</a:t>
            </a:r>
          </a:p>
          <a:p>
            <a:pPr lvl="1" fontAlgn="base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What will the session look like?</a:t>
            </a:r>
          </a:p>
        </p:txBody>
      </p:sp>
    </p:spTree>
    <p:extLst>
      <p:ext uri="{BB962C8B-B14F-4D97-AF65-F5344CB8AC3E}">
        <p14:creationId xmlns:p14="http://schemas.microsoft.com/office/powerpoint/2010/main" val="6430851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76116-70DE-8B9E-5C53-0F50E155D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B3961-5AFB-A982-BFAA-39F9A7913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Homework for Next Week – Step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C101C-F650-5DF2-CB70-597F391B8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Think about what kind of method or concept you want as part of your profile</a:t>
            </a:r>
          </a:p>
          <a:p>
            <a:r>
              <a:rPr lang="en-US" dirty="0"/>
              <a:t>Think through how it might relate to your own…</a:t>
            </a:r>
          </a:p>
          <a:p>
            <a:pPr lvl="1"/>
            <a:r>
              <a:rPr lang="en-US" dirty="0"/>
              <a:t>Research</a:t>
            </a:r>
          </a:p>
          <a:p>
            <a:pPr lvl="1"/>
            <a:r>
              <a:rPr lang="en-US" dirty="0"/>
              <a:t>Workshop</a:t>
            </a:r>
          </a:p>
          <a:p>
            <a:r>
              <a:rPr lang="en-US" dirty="0"/>
              <a:t>Start brainstorming workshop ideas. </a:t>
            </a:r>
          </a:p>
          <a:p>
            <a:r>
              <a:rPr lang="en-US" dirty="0"/>
              <a:t>Talk to me – I can poke you in a direction</a:t>
            </a:r>
          </a:p>
          <a:p>
            <a:r>
              <a:rPr lang="en-US" dirty="0"/>
              <a:t>Some short readings on the curriculum page</a:t>
            </a:r>
          </a:p>
          <a:p>
            <a:r>
              <a:rPr lang="en-US" dirty="0"/>
              <a:t>Explore 2-3 categories in </a:t>
            </a:r>
            <a:r>
              <a:rPr lang="en-US" dirty="0">
                <a:hlinkClick r:id="rId3"/>
              </a:rPr>
              <a:t>Digital Pedagogy in the Humanities: Concepts, Models, and Experiments</a:t>
            </a:r>
            <a:r>
              <a:rPr lang="en-US" dirty="0"/>
              <a:t> that are useful for your interests and use them to begin thinking about your workshops.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61406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DBBD92-61C7-54AC-6955-9266804E25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0"/>
            <a:ext cx="10972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671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1525</TotalTime>
  <Words>1679</Words>
  <Application>Microsoft Macintosh PowerPoint</Application>
  <PresentationFormat>Widescreen</PresentationFormat>
  <Paragraphs>199</Paragraphs>
  <Slides>29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Calibri Light</vt:lpstr>
      <vt:lpstr>Office Theme</vt:lpstr>
      <vt:lpstr>Workshop on Workshops or Teaching Yourself a Thing to Teach Others</vt:lpstr>
      <vt:lpstr>Plan</vt:lpstr>
      <vt:lpstr>DH Workshop &amp; Teaching Statements</vt:lpstr>
      <vt:lpstr>PowerPoint Presentation</vt:lpstr>
      <vt:lpstr>Buttonology</vt:lpstr>
      <vt:lpstr>Example Workshop – Ways to Read a Text</vt:lpstr>
      <vt:lpstr>Embedded Workshop Starts here</vt:lpstr>
      <vt:lpstr>PowerPoint Presentation</vt:lpstr>
      <vt:lpstr>PowerPoint Presentation</vt:lpstr>
      <vt:lpstr>Design by Maya Eilam</vt:lpstr>
      <vt:lpstr>Sentiment Analysis</vt:lpstr>
      <vt:lpstr>Sentiment Analysis</vt:lpstr>
      <vt:lpstr>Sentiment Analysis</vt:lpstr>
      <vt:lpstr>Sentiment Analysis</vt:lpstr>
      <vt:lpstr>Sentiment Analysis</vt:lpstr>
      <vt:lpstr>Sentiment Analysis</vt:lpstr>
      <vt:lpstr>Sentiment Analysis</vt:lpstr>
      <vt:lpstr>Sentiment Analysis</vt:lpstr>
      <vt:lpstr>Sentiment Analysis</vt:lpstr>
      <vt:lpstr>Sentiment Analysis</vt:lpstr>
      <vt:lpstr>PowerPoint Presentation</vt:lpstr>
      <vt:lpstr>PowerPoint Presentation</vt:lpstr>
      <vt:lpstr>Sentiment Analysis in Use</vt:lpstr>
      <vt:lpstr>Reflect on the Activity</vt:lpstr>
      <vt:lpstr>Reflect on the Activity</vt:lpstr>
      <vt:lpstr>DH Workshop &amp; Teaching Statements</vt:lpstr>
      <vt:lpstr>Get there by Backwards Design</vt:lpstr>
      <vt:lpstr>Homework for Next Week – Step 1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on Workshops</dc:title>
  <dc:creator>Walsh, Brandon M (bmw9t)</dc:creator>
  <cp:lastModifiedBy>Walsh, Brandon M (bmw9t)</cp:lastModifiedBy>
  <cp:revision>108</cp:revision>
  <dcterms:created xsi:type="dcterms:W3CDTF">2018-09-26T14:28:18Z</dcterms:created>
  <dcterms:modified xsi:type="dcterms:W3CDTF">2024-10-23T14:04:32Z</dcterms:modified>
</cp:coreProperties>
</file>