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9" r:id="rId1"/>
  </p:sldMasterIdLst>
  <p:notesMasterIdLst>
    <p:notesMasterId r:id="rId20"/>
  </p:notesMasterIdLst>
  <p:sldIdLst>
    <p:sldId id="256" r:id="rId2"/>
    <p:sldId id="258" r:id="rId3"/>
    <p:sldId id="259" r:id="rId4"/>
    <p:sldId id="277" r:id="rId5"/>
    <p:sldId id="261" r:id="rId6"/>
    <p:sldId id="262" r:id="rId7"/>
    <p:sldId id="263" r:id="rId8"/>
    <p:sldId id="264" r:id="rId9"/>
    <p:sldId id="265" r:id="rId10"/>
    <p:sldId id="266" r:id="rId11"/>
    <p:sldId id="279" r:id="rId12"/>
    <p:sldId id="278" r:id="rId13"/>
    <p:sldId id="267" r:id="rId14"/>
    <p:sldId id="280" r:id="rId15"/>
    <p:sldId id="281" r:id="rId16"/>
    <p:sldId id="282" r:id="rId17"/>
    <p:sldId id="274" r:id="rId18"/>
    <p:sldId id="276" r:id="rId19"/>
  </p:sldIdLst>
  <p:sldSz cx="9144000" cy="5143500" type="screen16x9"/>
  <p:notesSz cx="6858000" cy="9144000"/>
  <p:embeddedFontLst>
    <p:embeddedFont>
      <p:font typeface="Lato" panose="020F0502020204030203" pitchFamily="34" charset="0"/>
      <p:regular r:id="rId21"/>
      <p:bold r:id="rId22"/>
      <p:italic r:id="rId23"/>
      <p:boldItalic r:id="rId24"/>
    </p:embeddedFont>
    <p:embeddedFont>
      <p:font typeface="Raleway" pitchFamily="2" charset="77"/>
      <p:regular r:id="rId25"/>
      <p:bold r:id="rId26"/>
      <p:italic r:id="rId27"/>
      <p:boldItalic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906"/>
    <p:restoredTop sz="74769"/>
  </p:normalViewPr>
  <p:slideViewPr>
    <p:cSldViewPr snapToGrid="0">
      <p:cViewPr varScale="1">
        <p:scale>
          <a:sx n="103" d="100"/>
          <a:sy n="103" d="100"/>
        </p:scale>
        <p:origin x="168" y="28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59a3991c5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59a3991c5f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AutoNum type="arabicPeriod"/>
            </a:pPr>
            <a:r>
              <a:rPr lang="en" dirty="0"/>
              <a:t>Teaching can feel broad and difficult to figure out how to articulate your feelings about it. We’ll talk about a variety of methods for doing so today. Goal is to get you thinking about what you’re doing and recognizing that these are all conscious choices.</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5b71b0f9ca_0_28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5b71b0f9ca_0_28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it about a workshop on teaching that could be said to be specifically a workshop on digital humanities teaching? Or rather, what is a pedagogy of digital humanities? Why is it important to have one? What should one articulate? Those are questions we will hope to explore, but here are some thoughts -</a:t>
            </a:r>
            <a:endParaRPr/>
          </a:p>
          <a:p>
            <a:pPr marL="457200" lvl="0" indent="-298450" algn="l" rtl="0">
              <a:spcBef>
                <a:spcPts val="0"/>
              </a:spcBef>
              <a:spcAft>
                <a:spcPts val="0"/>
              </a:spcAft>
              <a:buSzPts val="1100"/>
              <a:buAutoNum type="arabicPeriod"/>
            </a:pPr>
            <a:r>
              <a:rPr lang="en"/>
              <a:t>DH constantly puts us in a position of learning and constantly in a position of teaching. Whether it be to communicate with people about our research, to convince them of it, or to teach new methods to newcomers, we are constantly taking something new. Because most people find their way into DH not through DH programs but rather from a department first, perhaps interdisciplinarity means we’re always trying to educate someone about something, in this discipline more than most. </a:t>
            </a:r>
            <a:endParaRPr/>
          </a:p>
          <a:p>
            <a:pPr marL="457200" lvl="0" indent="-298450" algn="l" rtl="0">
              <a:spcBef>
                <a:spcPts val="0"/>
              </a:spcBef>
              <a:spcAft>
                <a:spcPts val="0"/>
              </a:spcAft>
              <a:buSzPts val="1100"/>
              <a:buAutoNum type="arabicPeriod"/>
            </a:pPr>
            <a:r>
              <a:rPr lang="en"/>
              <a:t>We often talk in the Scholars’ Lab (and in parts of DH) about foregrounding the process, the workflows, documenting things so that others can follow, doing so in public. Teaching can and should be a part of that. After all, we teach all the time. And that work too can be documented. Not just the assignments and whatnot but also the philosophy behind what you’re doing. Teaching labor is professionally legible work, but it can all too easily disappear. Writing down your statements gives you a chance to stake a claim and offer an intervention. </a:t>
            </a:r>
            <a:endParaRPr/>
          </a:p>
          <a:p>
            <a:pPr marL="457200" lvl="0" indent="-298450" algn="l" rtl="0">
              <a:spcBef>
                <a:spcPts val="0"/>
              </a:spcBef>
              <a:spcAft>
                <a:spcPts val="0"/>
              </a:spcAft>
              <a:buSzPts val="1100"/>
              <a:buAutoNum type="arabicPeriod"/>
            </a:pPr>
            <a:r>
              <a:rPr lang="en"/>
              <a:t>Formal, written statements of your teaching can also help clarify the work that you’re doing for your students. They can establish a kind of labor agreement with them that will offer terms under you which you will approach their care. The Scholars’ Lab charter tries to offer guidelines and goals for our own behavior. It shows that you take students, their work and their concerns, seriously. And I think doing so is a way of trying to recognize the human elements of DH work and the labor of DH learning.</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So we're going to have you start brainstorming some things about your pedagogy, specifically as it pertains to DH today as well.</a:t>
            </a:r>
            <a:br>
              <a:rPr lang="en-US"/>
            </a:br>
            <a:endParaRPr lang="en-US"/>
          </a:p>
          <a:p>
            <a:r>
              <a:rPr lang="en-US"/>
              <a:t>We can do a follow-up session on writing teaching statements if you'd like!</a:t>
            </a:r>
            <a:br>
              <a:rPr lang="en-US"/>
            </a:br>
            <a:r>
              <a:rPr lang="en-US"/>
              <a:t>But when people write about teaching for the first time they often get hung up on one or two things – either the material they want them to learn or the methods </a:t>
            </a:r>
          </a:p>
        </p:txBody>
      </p:sp>
    </p:spTree>
    <p:extLst>
      <p:ext uri="{BB962C8B-B14F-4D97-AF65-F5344CB8AC3E}">
        <p14:creationId xmlns:p14="http://schemas.microsoft.com/office/powerpoint/2010/main" val="13371948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5b71b0f9ca_0_28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5b71b0f9ca_0_28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One of the difficult things about teaching is that, in a certain sense, it’s like walking. When was the last time you really reflected on all the muscles and bones that allow you to walk?</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5b71b0f9ca_0_39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5b71b0f9ca_0_39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5995e12a43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5995e12a43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5b789647c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5b789647cb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5b789647cb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5b789647cb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5b71b0f9ca_0_3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5b71b0f9ca_0_3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So we're going to have you start brainstorming some things about your pedagogy, specifically as it pertains to DH today as well.</a:t>
            </a:r>
            <a:br>
              <a:rPr lang="en-US"/>
            </a:br>
            <a:endParaRPr lang="en-US"/>
          </a:p>
          <a:p>
            <a:r>
              <a:rPr lang="en-US"/>
              <a:t>We can do a follow-up session on writing teaching statements if you'd like!</a:t>
            </a:r>
            <a:br>
              <a:rPr lang="en-US"/>
            </a:br>
            <a:r>
              <a:rPr lang="en-US"/>
              <a:t>But when people write about teaching for the first time they often get hung up on one or two things – either the material they want them to learn or the methods </a:t>
            </a:r>
          </a:p>
        </p:txBody>
      </p:sp>
    </p:spTree>
    <p:extLst>
      <p:ext uri="{BB962C8B-B14F-4D97-AF65-F5344CB8AC3E}">
        <p14:creationId xmlns:p14="http://schemas.microsoft.com/office/powerpoint/2010/main" val="14667178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5b71b0f9ca_0_3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5b71b0f9ca_0_3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come back to the group to discuss.</a:t>
            </a:r>
            <a:endParaRPr/>
          </a:p>
          <a:p>
            <a:pPr marL="0" lvl="0" indent="0" algn="l" rtl="0">
              <a:spcBef>
                <a:spcPts val="0"/>
              </a:spcBef>
              <a:spcAft>
                <a:spcPts val="0"/>
              </a:spcAft>
              <a:buNone/>
            </a:pPr>
            <a:endParaRPr/>
          </a:p>
          <a:p>
            <a:pPr marL="0" lvl="0" indent="0" algn="l" rtl="0">
              <a:spcBef>
                <a:spcPts val="0"/>
              </a:spcBef>
              <a:spcAft>
                <a:spcPts val="0"/>
              </a:spcAft>
              <a:buNone/>
            </a:pPr>
            <a:r>
              <a:rPr lang="en"/>
              <a:t>What did they find?</a:t>
            </a:r>
            <a:br>
              <a:rPr lang="en"/>
            </a:br>
            <a:r>
              <a:rPr lang="en"/>
              <a:t>Anything surprising?</a:t>
            </a:r>
            <a:endParaRPr/>
          </a:p>
          <a:p>
            <a:pPr marL="0" lvl="0" indent="0" algn="l" rtl="0">
              <a:spcBef>
                <a:spcPts val="0"/>
              </a:spcBef>
              <a:spcAft>
                <a:spcPts val="0"/>
              </a:spcAft>
              <a:buNone/>
            </a:pPr>
            <a:r>
              <a:rPr lang="en"/>
              <a:t>What did they discover?</a:t>
            </a:r>
            <a:endParaRPr/>
          </a:p>
          <a:p>
            <a:pPr marL="0" lvl="0" indent="0" algn="l" rtl="0">
              <a:spcBef>
                <a:spcPts val="0"/>
              </a:spcBef>
              <a:spcAft>
                <a:spcPts val="0"/>
              </a:spcAft>
              <a:buNone/>
            </a:pPr>
            <a:r>
              <a:rPr lang="en"/>
              <a:t>What seemed to be specific to digital humanities teaching as opposed to teaching in general?</a:t>
            </a:r>
            <a:br>
              <a:rPr lang="en"/>
            </a:br>
            <a:r>
              <a:rPr lang="en"/>
              <a:t>What was difficult about the activity?</a:t>
            </a:r>
            <a:br>
              <a:rPr lang="en"/>
            </a:br>
            <a:r>
              <a:rPr lang="en"/>
              <a:t>What other ways could they imagine developing a more nuanced sense of pedagogy</a:t>
            </a:r>
            <a:endParaRPr/>
          </a:p>
          <a:p>
            <a:pPr marL="0" lvl="0" indent="0" algn="l" rtl="0">
              <a:spcBef>
                <a:spcPts val="0"/>
              </a:spcBef>
              <a:spcAft>
                <a:spcPts val="0"/>
              </a:spcAft>
              <a:buNone/>
            </a:pPr>
            <a:r>
              <a:rPr lang="en"/>
              <a:t>Come back to the group and discuss for more time</a:t>
            </a:r>
            <a:endParaRPr/>
          </a:p>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5b71b0f9ca_0_3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5b71b0f9ca_0_3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come back to the group to discuss.</a:t>
            </a:r>
            <a:endParaRPr/>
          </a:p>
          <a:p>
            <a:pPr marL="0" lvl="0" indent="0" algn="l" rtl="0">
              <a:spcBef>
                <a:spcPts val="0"/>
              </a:spcBef>
              <a:spcAft>
                <a:spcPts val="0"/>
              </a:spcAft>
              <a:buNone/>
            </a:pPr>
            <a:endParaRPr/>
          </a:p>
          <a:p>
            <a:pPr marL="0" lvl="0" indent="0" algn="l" rtl="0">
              <a:spcBef>
                <a:spcPts val="0"/>
              </a:spcBef>
              <a:spcAft>
                <a:spcPts val="0"/>
              </a:spcAft>
              <a:buNone/>
            </a:pPr>
            <a:r>
              <a:rPr lang="en"/>
              <a:t>What did they find?</a:t>
            </a:r>
            <a:br>
              <a:rPr lang="en"/>
            </a:br>
            <a:r>
              <a:rPr lang="en"/>
              <a:t>Anything surprising?</a:t>
            </a:r>
            <a:endParaRPr/>
          </a:p>
          <a:p>
            <a:pPr marL="0" lvl="0" indent="0" algn="l" rtl="0">
              <a:spcBef>
                <a:spcPts val="0"/>
              </a:spcBef>
              <a:spcAft>
                <a:spcPts val="0"/>
              </a:spcAft>
              <a:buNone/>
            </a:pPr>
            <a:r>
              <a:rPr lang="en"/>
              <a:t>What did they discover?</a:t>
            </a:r>
            <a:endParaRPr/>
          </a:p>
          <a:p>
            <a:pPr marL="0" lvl="0" indent="0" algn="l" rtl="0">
              <a:spcBef>
                <a:spcPts val="0"/>
              </a:spcBef>
              <a:spcAft>
                <a:spcPts val="0"/>
              </a:spcAft>
              <a:buNone/>
            </a:pPr>
            <a:r>
              <a:rPr lang="en"/>
              <a:t>What seemed to be specific to digital humanities teaching as opposed to teaching in general?</a:t>
            </a:r>
            <a:br>
              <a:rPr lang="en"/>
            </a:br>
            <a:r>
              <a:rPr lang="en"/>
              <a:t>What was difficult about the activity?</a:t>
            </a:r>
            <a:br>
              <a:rPr lang="en"/>
            </a:br>
            <a:r>
              <a:rPr lang="en"/>
              <a:t>What other ways could they imagine developing a more nuanced sense of pedagogy</a:t>
            </a:r>
            <a:endParaRPr/>
          </a:p>
          <a:p>
            <a:pPr marL="0" lvl="0" indent="0" algn="l" rtl="0">
              <a:spcBef>
                <a:spcPts val="0"/>
              </a:spcBef>
              <a:spcAft>
                <a:spcPts val="0"/>
              </a:spcAft>
              <a:buNone/>
            </a:pPr>
            <a:r>
              <a:rPr lang="en"/>
              <a:t>Come back to the group and discuss for more time</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6408649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5b71b0f9ca_0_3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5b71b0f9ca_0_3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Then come back to the group to discuss.</a:t>
            </a:r>
            <a:endParaRPr/>
          </a:p>
          <a:p>
            <a:pPr marL="0" lvl="0" indent="0" algn="l" rtl="0">
              <a:spcBef>
                <a:spcPts val="0"/>
              </a:spcBef>
              <a:spcAft>
                <a:spcPts val="0"/>
              </a:spcAft>
              <a:buNone/>
            </a:pPr>
            <a:endParaRPr/>
          </a:p>
          <a:p>
            <a:pPr marL="0" lvl="0" indent="0" algn="l" rtl="0">
              <a:spcBef>
                <a:spcPts val="0"/>
              </a:spcBef>
              <a:spcAft>
                <a:spcPts val="0"/>
              </a:spcAft>
              <a:buNone/>
            </a:pPr>
            <a:r>
              <a:rPr lang="en"/>
              <a:t>What did they find?</a:t>
            </a:r>
            <a:br>
              <a:rPr lang="en"/>
            </a:br>
            <a:r>
              <a:rPr lang="en"/>
              <a:t>Anything surprising?</a:t>
            </a:r>
            <a:endParaRPr/>
          </a:p>
          <a:p>
            <a:pPr marL="0" lvl="0" indent="0" algn="l" rtl="0">
              <a:spcBef>
                <a:spcPts val="0"/>
              </a:spcBef>
              <a:spcAft>
                <a:spcPts val="0"/>
              </a:spcAft>
              <a:buNone/>
            </a:pPr>
            <a:r>
              <a:rPr lang="en"/>
              <a:t>What did they discover?</a:t>
            </a:r>
            <a:endParaRPr/>
          </a:p>
          <a:p>
            <a:pPr marL="0" lvl="0" indent="0" algn="l" rtl="0">
              <a:spcBef>
                <a:spcPts val="0"/>
              </a:spcBef>
              <a:spcAft>
                <a:spcPts val="0"/>
              </a:spcAft>
              <a:buNone/>
            </a:pPr>
            <a:r>
              <a:rPr lang="en"/>
              <a:t>What seemed to be specific to digital humanities teaching as opposed to teaching in general?</a:t>
            </a:r>
            <a:br>
              <a:rPr lang="en"/>
            </a:br>
            <a:r>
              <a:rPr lang="en"/>
              <a:t>What was difficult about the activity?</a:t>
            </a:r>
            <a:br>
              <a:rPr lang="en"/>
            </a:br>
            <a:r>
              <a:rPr lang="en"/>
              <a:t>What other ways could they imagine developing a more nuanced sense of pedagogy</a:t>
            </a:r>
            <a:endParaRPr/>
          </a:p>
          <a:p>
            <a:pPr marL="0" lvl="0" indent="0" algn="l" rtl="0">
              <a:spcBef>
                <a:spcPts val="0"/>
              </a:spcBef>
              <a:spcAft>
                <a:spcPts val="0"/>
              </a:spcAft>
              <a:buNone/>
            </a:pPr>
            <a:r>
              <a:rPr lang="en"/>
              <a:t>Come back to the group and discuss for more time</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3569482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5b71b0f9ca_0_39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5b71b0f9ca_0_39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Then come back to the group to discuss.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What did they find?</a:t>
            </a:r>
            <a:br>
              <a:rPr lang="en" dirty="0"/>
            </a:br>
            <a:r>
              <a:rPr lang="en" dirty="0"/>
              <a:t>Anything surprising?</a:t>
            </a:r>
            <a:endParaRPr dirty="0"/>
          </a:p>
          <a:p>
            <a:pPr marL="0" lvl="0" indent="0" algn="l" rtl="0">
              <a:spcBef>
                <a:spcPts val="0"/>
              </a:spcBef>
              <a:spcAft>
                <a:spcPts val="0"/>
              </a:spcAft>
              <a:buNone/>
            </a:pPr>
            <a:r>
              <a:rPr lang="en" dirty="0"/>
              <a:t>What did they discover?</a:t>
            </a:r>
            <a:endParaRPr dirty="0"/>
          </a:p>
          <a:p>
            <a:pPr marL="0" lvl="0" indent="0" algn="l" rtl="0">
              <a:spcBef>
                <a:spcPts val="0"/>
              </a:spcBef>
              <a:spcAft>
                <a:spcPts val="0"/>
              </a:spcAft>
              <a:buNone/>
            </a:pPr>
            <a:r>
              <a:rPr lang="en" dirty="0"/>
              <a:t>What seemed to be specific to digital humanities teaching as opposed to teaching in general?</a:t>
            </a:r>
            <a:br>
              <a:rPr lang="en" dirty="0"/>
            </a:br>
            <a:r>
              <a:rPr lang="en" dirty="0"/>
              <a:t>What was difficult about the activity?</a:t>
            </a:r>
            <a:br>
              <a:rPr lang="en" dirty="0"/>
            </a:br>
            <a:r>
              <a:rPr lang="en" dirty="0"/>
              <a:t>What other ways could they imagine developing a more nuanced sense of pedagogy</a:t>
            </a:r>
            <a:endParaRPr dirty="0"/>
          </a:p>
          <a:p>
            <a:pPr marL="0" lvl="0" indent="0" algn="l" rtl="0">
              <a:spcBef>
                <a:spcPts val="0"/>
              </a:spcBef>
              <a:spcAft>
                <a:spcPts val="0"/>
              </a:spcAft>
              <a:buNone/>
            </a:pPr>
            <a:r>
              <a:rPr lang="en" dirty="0"/>
              <a:t>Come back to the group and discuss for more time</a:t>
            </a:r>
            <a:endParaRPr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2248912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5995e11f04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5995e11f0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300">
                <a:solidFill>
                  <a:schemeClr val="accent1"/>
                </a:solidFill>
                <a:latin typeface="Lato"/>
                <a:ea typeface="Lato"/>
                <a:cs typeface="Lato"/>
                <a:sym typeface="Lato"/>
              </a:rPr>
              <a:t>Distribute Selected teaching philosophies, have each group read one and then score based on “rubric for assessing teaching philosophies” will pass out handout </a:t>
            </a:r>
            <a:endParaRPr sz="1300">
              <a:solidFill>
                <a:schemeClr val="accent1"/>
              </a:solidFill>
              <a:latin typeface="Lato"/>
              <a:ea typeface="Lato"/>
              <a:cs typeface="Lato"/>
              <a:sym typeface="Lato"/>
            </a:endParaRPr>
          </a:p>
          <a:p>
            <a:pPr marL="0" lvl="0" indent="0" algn="l" rtl="0">
              <a:lnSpc>
                <a:spcPct val="115000"/>
              </a:lnSpc>
              <a:spcBef>
                <a:spcPts val="1600"/>
              </a:spcBef>
              <a:spcAft>
                <a:spcPts val="0"/>
              </a:spcAft>
              <a:buNone/>
            </a:pPr>
            <a:r>
              <a:rPr lang="en" sz="1300">
                <a:solidFill>
                  <a:schemeClr val="accent1"/>
                </a:solidFill>
                <a:latin typeface="Lato"/>
                <a:ea typeface="Lato"/>
                <a:cs typeface="Lato"/>
                <a:sym typeface="Lato"/>
              </a:rPr>
              <a:t>Groups will each share with larger workshop (i.e. “expert groups” method)</a:t>
            </a:r>
            <a:endParaRPr sz="1300">
              <a:solidFill>
                <a:schemeClr val="accent1"/>
              </a:solidFill>
              <a:latin typeface="Lato"/>
              <a:ea typeface="Lato"/>
              <a:cs typeface="Lato"/>
              <a:sym typeface="Lato"/>
            </a:endParaRPr>
          </a:p>
          <a:p>
            <a:pPr marL="0" lvl="0" indent="0" algn="l" rtl="0">
              <a:lnSpc>
                <a:spcPct val="115000"/>
              </a:lnSpc>
              <a:spcBef>
                <a:spcPts val="1600"/>
              </a:spcBef>
              <a:spcAft>
                <a:spcPts val="1600"/>
              </a:spcAft>
              <a:buNone/>
            </a:pPr>
            <a:endParaRPr sz="1300">
              <a:solidFill>
                <a:schemeClr val="accent1"/>
              </a:solidFill>
              <a:latin typeface="Lato"/>
              <a:ea typeface="Lato"/>
              <a:cs typeface="Lato"/>
              <a:sym typeface="Lato"/>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5995e12a43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 name="Google Shape;205;g5995e12a43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2"/>
        </a:solidFill>
        <a:effectLst/>
      </p:bgPr>
    </p:bg>
    <p:spTree>
      <p:nvGrpSpPr>
        <p:cNvPr id="1"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 name="Google Shape;14;p2"/>
          <p:cNvSpPr txBox="1">
            <a:spLocks noGrp="1"/>
          </p:cNvSpPr>
          <p:nvPr>
            <p:ph type="ctrTitle"/>
          </p:nvPr>
        </p:nvSpPr>
        <p:spPr>
          <a:xfrm>
            <a:off x="729450" y="1322450"/>
            <a:ext cx="7688100" cy="16647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4200"/>
              <a:buNone/>
              <a:defRPr sz="4200">
                <a:solidFill>
                  <a:schemeClr val="dk2"/>
                </a:solidFill>
              </a:defRPr>
            </a:lvl1pPr>
            <a:lvl2pPr lvl="1">
              <a:spcBef>
                <a:spcPts val="0"/>
              </a:spcBef>
              <a:spcAft>
                <a:spcPts val="0"/>
              </a:spcAft>
              <a:buClr>
                <a:schemeClr val="dk2"/>
              </a:buClr>
              <a:buSzPts val="4200"/>
              <a:buNone/>
              <a:defRPr sz="4200">
                <a:solidFill>
                  <a:schemeClr val="dk2"/>
                </a:solidFill>
              </a:defRPr>
            </a:lvl2pPr>
            <a:lvl3pPr lvl="2">
              <a:spcBef>
                <a:spcPts val="0"/>
              </a:spcBef>
              <a:spcAft>
                <a:spcPts val="0"/>
              </a:spcAft>
              <a:buClr>
                <a:schemeClr val="dk2"/>
              </a:buClr>
              <a:buSzPts val="4200"/>
              <a:buNone/>
              <a:defRPr sz="4200">
                <a:solidFill>
                  <a:schemeClr val="dk2"/>
                </a:solidFill>
              </a:defRPr>
            </a:lvl3pPr>
            <a:lvl4pPr lvl="3">
              <a:spcBef>
                <a:spcPts val="0"/>
              </a:spcBef>
              <a:spcAft>
                <a:spcPts val="0"/>
              </a:spcAft>
              <a:buClr>
                <a:schemeClr val="dk2"/>
              </a:buClr>
              <a:buSzPts val="4200"/>
              <a:buNone/>
              <a:defRPr sz="4200">
                <a:solidFill>
                  <a:schemeClr val="dk2"/>
                </a:solidFill>
              </a:defRPr>
            </a:lvl4pPr>
            <a:lvl5pPr lvl="4">
              <a:spcBef>
                <a:spcPts val="0"/>
              </a:spcBef>
              <a:spcAft>
                <a:spcPts val="0"/>
              </a:spcAft>
              <a:buClr>
                <a:schemeClr val="dk2"/>
              </a:buClr>
              <a:buSzPts val="4200"/>
              <a:buNone/>
              <a:defRPr sz="4200">
                <a:solidFill>
                  <a:schemeClr val="dk2"/>
                </a:solidFill>
              </a:defRPr>
            </a:lvl5pPr>
            <a:lvl6pPr lvl="5">
              <a:spcBef>
                <a:spcPts val="0"/>
              </a:spcBef>
              <a:spcAft>
                <a:spcPts val="0"/>
              </a:spcAft>
              <a:buClr>
                <a:schemeClr val="dk2"/>
              </a:buClr>
              <a:buSzPts val="4200"/>
              <a:buNone/>
              <a:defRPr sz="4200">
                <a:solidFill>
                  <a:schemeClr val="dk2"/>
                </a:solidFill>
              </a:defRPr>
            </a:lvl6pPr>
            <a:lvl7pPr lvl="6">
              <a:spcBef>
                <a:spcPts val="0"/>
              </a:spcBef>
              <a:spcAft>
                <a:spcPts val="0"/>
              </a:spcAft>
              <a:buClr>
                <a:schemeClr val="dk2"/>
              </a:buClr>
              <a:buSzPts val="4200"/>
              <a:buNone/>
              <a:defRPr sz="4200">
                <a:solidFill>
                  <a:schemeClr val="dk2"/>
                </a:solidFill>
              </a:defRPr>
            </a:lvl7pPr>
            <a:lvl8pPr lvl="7">
              <a:spcBef>
                <a:spcPts val="0"/>
              </a:spcBef>
              <a:spcAft>
                <a:spcPts val="0"/>
              </a:spcAft>
              <a:buClr>
                <a:schemeClr val="dk2"/>
              </a:buClr>
              <a:buSzPts val="4200"/>
              <a:buNone/>
              <a:defRPr sz="4200">
                <a:solidFill>
                  <a:schemeClr val="dk2"/>
                </a:solidFill>
              </a:defRPr>
            </a:lvl8pPr>
            <a:lvl9pPr lvl="8">
              <a:spcBef>
                <a:spcPts val="0"/>
              </a:spcBef>
              <a:spcAft>
                <a:spcPts val="0"/>
              </a:spcAft>
              <a:buClr>
                <a:schemeClr val="dk2"/>
              </a:buClr>
              <a:buSzPts val="4200"/>
              <a:buNone/>
              <a:defRPr sz="4200">
                <a:solidFill>
                  <a:schemeClr val="dk2"/>
                </a:solidFill>
              </a:defRPr>
            </a:lvl9pPr>
          </a:lstStyle>
          <a:p>
            <a:endParaRPr/>
          </a:p>
        </p:txBody>
      </p:sp>
      <p:sp>
        <p:nvSpPr>
          <p:cNvPr id="15" name="Google Shape;15;p2"/>
          <p:cNvSpPr txBox="1">
            <a:spLocks noGrp="1"/>
          </p:cNvSpPr>
          <p:nvPr>
            <p:ph type="subTitle" idx="1"/>
          </p:nvPr>
        </p:nvSpPr>
        <p:spPr>
          <a:xfrm>
            <a:off x="729627" y="3172900"/>
            <a:ext cx="7688100" cy="5412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6" name="Google Shape;16;p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Google Shape;21;p3"/>
          <p:cNvSpPr txBox="1">
            <a:spLocks noGrp="1"/>
          </p:cNvSpPr>
          <p:nvPr>
            <p:ph type="title"/>
          </p:nvPr>
        </p:nvSpPr>
        <p:spPr>
          <a:xfrm>
            <a:off x="729450" y="1322450"/>
            <a:ext cx="7688400" cy="15186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22" name="Google Shape;22;p3"/>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Google Shape;28;p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29" name="Google Shape;29;p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0" name="Google Shape;30;p4"/>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5"/>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37" name="Google Shape;37;p5"/>
          <p:cNvSpPr txBox="1">
            <a:spLocks noGrp="1"/>
          </p:cNvSpPr>
          <p:nvPr>
            <p:ph type="body" idx="1"/>
          </p:nvPr>
        </p:nvSpPr>
        <p:spPr>
          <a:xfrm>
            <a:off x="729325" y="2078875"/>
            <a:ext cx="3774300" cy="22611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8" name="Google Shape;38;p5"/>
          <p:cNvSpPr txBox="1">
            <a:spLocks noGrp="1"/>
          </p:cNvSpPr>
          <p:nvPr>
            <p:ph type="body" idx="2"/>
          </p:nvPr>
        </p:nvSpPr>
        <p:spPr>
          <a:xfrm>
            <a:off x="4643604" y="2078875"/>
            <a:ext cx="3774300" cy="22611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39" name="Google Shape;39;p5"/>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Google Shape;45;p6"/>
          <p:cNvSpPr txBox="1">
            <a:spLocks noGrp="1"/>
          </p:cNvSpPr>
          <p:nvPr>
            <p:ph type="title"/>
          </p:nvPr>
        </p:nvSpPr>
        <p:spPr>
          <a:xfrm>
            <a:off x="729450" y="1318650"/>
            <a:ext cx="7688400" cy="535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46" name="Google Shape;46;p6"/>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 name="Google Shape;52;p7"/>
          <p:cNvSpPr txBox="1">
            <a:spLocks noGrp="1"/>
          </p:cNvSpPr>
          <p:nvPr>
            <p:ph type="title"/>
          </p:nvPr>
        </p:nvSpPr>
        <p:spPr>
          <a:xfrm>
            <a:off x="730000" y="1318650"/>
            <a:ext cx="3300900" cy="13815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53" name="Google Shape;53;p7"/>
          <p:cNvSpPr txBox="1">
            <a:spLocks noGrp="1"/>
          </p:cNvSpPr>
          <p:nvPr>
            <p:ph type="body" idx="1"/>
          </p:nvPr>
        </p:nvSpPr>
        <p:spPr>
          <a:xfrm>
            <a:off x="721225" y="2781725"/>
            <a:ext cx="3300900" cy="1597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54" name="Google Shape;54;p7"/>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9" name="Google Shape;59;p8"/>
          <p:cNvSpPr txBox="1">
            <a:spLocks noGrp="1"/>
          </p:cNvSpPr>
          <p:nvPr>
            <p:ph type="title"/>
          </p:nvPr>
        </p:nvSpPr>
        <p:spPr>
          <a:xfrm>
            <a:off x="729450" y="864300"/>
            <a:ext cx="7021200" cy="29850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60" name="Google Shape;60;p8"/>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 name="Google Shape;66;p9"/>
          <p:cNvSpPr txBox="1">
            <a:spLocks noGrp="1"/>
          </p:cNvSpPr>
          <p:nvPr>
            <p:ph type="title"/>
          </p:nvPr>
        </p:nvSpPr>
        <p:spPr>
          <a:xfrm>
            <a:off x="730000" y="1318650"/>
            <a:ext cx="3300900" cy="16872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2600"/>
              <a:buNone/>
              <a:defRPr sz="2600">
                <a:solidFill>
                  <a:schemeClr val="dk2"/>
                </a:solidFill>
              </a:defRPr>
            </a:lvl1pPr>
            <a:lvl2pPr lvl="1">
              <a:spcBef>
                <a:spcPts val="0"/>
              </a:spcBef>
              <a:spcAft>
                <a:spcPts val="0"/>
              </a:spcAft>
              <a:buClr>
                <a:schemeClr val="dk2"/>
              </a:buClr>
              <a:buSzPts val="2600"/>
              <a:buNone/>
              <a:defRPr sz="2600">
                <a:solidFill>
                  <a:schemeClr val="dk2"/>
                </a:solidFill>
              </a:defRPr>
            </a:lvl2pPr>
            <a:lvl3pPr lvl="2">
              <a:spcBef>
                <a:spcPts val="0"/>
              </a:spcBef>
              <a:spcAft>
                <a:spcPts val="0"/>
              </a:spcAft>
              <a:buClr>
                <a:schemeClr val="dk2"/>
              </a:buClr>
              <a:buSzPts val="2600"/>
              <a:buNone/>
              <a:defRPr sz="2600">
                <a:solidFill>
                  <a:schemeClr val="dk2"/>
                </a:solidFill>
              </a:defRPr>
            </a:lvl3pPr>
            <a:lvl4pPr lvl="3">
              <a:spcBef>
                <a:spcPts val="0"/>
              </a:spcBef>
              <a:spcAft>
                <a:spcPts val="0"/>
              </a:spcAft>
              <a:buClr>
                <a:schemeClr val="dk2"/>
              </a:buClr>
              <a:buSzPts val="2600"/>
              <a:buNone/>
              <a:defRPr sz="2600">
                <a:solidFill>
                  <a:schemeClr val="dk2"/>
                </a:solidFill>
              </a:defRPr>
            </a:lvl4pPr>
            <a:lvl5pPr lvl="4">
              <a:spcBef>
                <a:spcPts val="0"/>
              </a:spcBef>
              <a:spcAft>
                <a:spcPts val="0"/>
              </a:spcAft>
              <a:buClr>
                <a:schemeClr val="dk2"/>
              </a:buClr>
              <a:buSzPts val="2600"/>
              <a:buNone/>
              <a:defRPr sz="2600">
                <a:solidFill>
                  <a:schemeClr val="dk2"/>
                </a:solidFill>
              </a:defRPr>
            </a:lvl5pPr>
            <a:lvl6pPr lvl="5">
              <a:spcBef>
                <a:spcPts val="0"/>
              </a:spcBef>
              <a:spcAft>
                <a:spcPts val="0"/>
              </a:spcAft>
              <a:buClr>
                <a:schemeClr val="dk2"/>
              </a:buClr>
              <a:buSzPts val="2600"/>
              <a:buNone/>
              <a:defRPr sz="2600">
                <a:solidFill>
                  <a:schemeClr val="dk2"/>
                </a:solidFill>
              </a:defRPr>
            </a:lvl6pPr>
            <a:lvl7pPr lvl="6">
              <a:spcBef>
                <a:spcPts val="0"/>
              </a:spcBef>
              <a:spcAft>
                <a:spcPts val="0"/>
              </a:spcAft>
              <a:buClr>
                <a:schemeClr val="dk2"/>
              </a:buClr>
              <a:buSzPts val="2600"/>
              <a:buNone/>
              <a:defRPr sz="2600">
                <a:solidFill>
                  <a:schemeClr val="dk2"/>
                </a:solidFill>
              </a:defRPr>
            </a:lvl7pPr>
            <a:lvl8pPr lvl="7">
              <a:spcBef>
                <a:spcPts val="0"/>
              </a:spcBef>
              <a:spcAft>
                <a:spcPts val="0"/>
              </a:spcAft>
              <a:buClr>
                <a:schemeClr val="dk2"/>
              </a:buClr>
              <a:buSzPts val="2600"/>
              <a:buNone/>
              <a:defRPr sz="2600">
                <a:solidFill>
                  <a:schemeClr val="dk2"/>
                </a:solidFill>
              </a:defRPr>
            </a:lvl8pPr>
            <a:lvl9pPr lvl="8">
              <a:spcBef>
                <a:spcPts val="0"/>
              </a:spcBef>
              <a:spcAft>
                <a:spcPts val="0"/>
              </a:spcAft>
              <a:buClr>
                <a:schemeClr val="dk2"/>
              </a:buClr>
              <a:buSzPts val="2600"/>
              <a:buNone/>
              <a:defRPr sz="2600">
                <a:solidFill>
                  <a:schemeClr val="dk2"/>
                </a:solidFill>
              </a:defRPr>
            </a:lvl9pPr>
          </a:lstStyle>
          <a:p>
            <a:endParaRPr/>
          </a:p>
        </p:txBody>
      </p:sp>
      <p:sp>
        <p:nvSpPr>
          <p:cNvPr id="67" name="Google Shape;67;p9"/>
          <p:cNvSpPr txBox="1">
            <a:spLocks noGrp="1"/>
          </p:cNvSpPr>
          <p:nvPr>
            <p:ph type="subTitle" idx="1"/>
          </p:nvPr>
        </p:nvSpPr>
        <p:spPr>
          <a:xfrm>
            <a:off x="724950" y="3161525"/>
            <a:ext cx="3300900" cy="7590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68" name="Google Shape;68;p9"/>
          <p:cNvSpPr txBox="1">
            <a:spLocks noGrp="1"/>
          </p:cNvSpPr>
          <p:nvPr>
            <p:ph type="body" idx="2"/>
          </p:nvPr>
        </p:nvSpPr>
        <p:spPr>
          <a:xfrm>
            <a:off x="5174225" y="1352625"/>
            <a:ext cx="3374400" cy="30255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69" name="Google Shape;69;p9"/>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0"/>
        <p:cNvGrpSpPr/>
        <p:nvPr/>
      </p:nvGrpSpPr>
      <p:grpSpPr>
        <a:xfrm>
          <a:off x="0" y="0"/>
          <a:ext cx="0" cy="0"/>
          <a:chOff x="0" y="0"/>
          <a:chExt cx="0" cy="0"/>
        </a:xfrm>
      </p:grpSpPr>
      <p:sp>
        <p:nvSpPr>
          <p:cNvPr id="71" name="Google Shape;71;p10"/>
          <p:cNvSpPr txBox="1">
            <a:spLocks noGrp="1"/>
          </p:cNvSpPr>
          <p:nvPr>
            <p:ph type="body" idx="1"/>
          </p:nvPr>
        </p:nvSpPr>
        <p:spPr>
          <a:xfrm>
            <a:off x="724950" y="4372551"/>
            <a:ext cx="7697400" cy="4605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300"/>
              <a:buNone/>
              <a:defRPr/>
            </a:lvl1pPr>
          </a:lstStyle>
          <a:p>
            <a:endParaRPr/>
          </a:p>
        </p:txBody>
      </p:sp>
      <p:sp>
        <p:nvSpPr>
          <p:cNvPr id="72" name="Google Shape;72;p10"/>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Google Shape;77;p11"/>
          <p:cNvSpPr txBox="1">
            <a:spLocks noGrp="1"/>
          </p:cNvSpPr>
          <p:nvPr>
            <p:ph type="title" hasCustomPrompt="1"/>
          </p:nvPr>
        </p:nvSpPr>
        <p:spPr>
          <a:xfrm>
            <a:off x="729450" y="733950"/>
            <a:ext cx="7688400" cy="12447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a:spLocks noGrp="1"/>
          </p:cNvSpPr>
          <p:nvPr>
            <p:ph type="body" idx="1"/>
          </p:nvPr>
        </p:nvSpPr>
        <p:spPr>
          <a:xfrm>
            <a:off x="729450" y="2272888"/>
            <a:ext cx="7688400" cy="1580400"/>
          </a:xfrm>
          <a:prstGeom prst="rect">
            <a:avLst/>
          </a:prstGeom>
        </p:spPr>
        <p:txBody>
          <a:bodyPr spcFirstLastPara="1" wrap="square" lIns="91425" tIns="91425" rIns="91425" bIns="91425" anchor="t" anchorCtr="0">
            <a:noAutofit/>
          </a:bodyPr>
          <a:lstStyle>
            <a:lvl1pPr marL="457200" lvl="0" indent="-311150">
              <a:spcBef>
                <a:spcPts val="0"/>
              </a:spcBef>
              <a:spcAft>
                <a:spcPts val="0"/>
              </a:spcAft>
              <a:buClr>
                <a:schemeClr val="lt1"/>
              </a:buClr>
              <a:buSzPts val="1300"/>
              <a:buChar char="●"/>
              <a:defRPr>
                <a:solidFill>
                  <a:schemeClr val="lt1"/>
                </a:solidFill>
              </a:defRPr>
            </a:lvl1pPr>
            <a:lvl2pPr marL="914400" lvl="1" indent="-298450">
              <a:spcBef>
                <a:spcPts val="1600"/>
              </a:spcBef>
              <a:spcAft>
                <a:spcPts val="0"/>
              </a:spcAft>
              <a:buClr>
                <a:schemeClr val="lt1"/>
              </a:buClr>
              <a:buSzPts val="1100"/>
              <a:buChar char="○"/>
              <a:defRPr>
                <a:solidFill>
                  <a:schemeClr val="lt1"/>
                </a:solidFill>
              </a:defRPr>
            </a:lvl2pPr>
            <a:lvl3pPr marL="1371600" lvl="2" indent="-298450">
              <a:spcBef>
                <a:spcPts val="1600"/>
              </a:spcBef>
              <a:spcAft>
                <a:spcPts val="0"/>
              </a:spcAft>
              <a:buClr>
                <a:schemeClr val="lt1"/>
              </a:buClr>
              <a:buSzPts val="1100"/>
              <a:buChar char="■"/>
              <a:defRPr>
                <a:solidFill>
                  <a:schemeClr val="lt1"/>
                </a:solidFill>
              </a:defRPr>
            </a:lvl3pPr>
            <a:lvl4pPr marL="1828800" lvl="3" indent="-298450">
              <a:spcBef>
                <a:spcPts val="1600"/>
              </a:spcBef>
              <a:spcAft>
                <a:spcPts val="0"/>
              </a:spcAft>
              <a:buClr>
                <a:schemeClr val="lt1"/>
              </a:buClr>
              <a:buSzPts val="1100"/>
              <a:buChar char="●"/>
              <a:defRPr>
                <a:solidFill>
                  <a:schemeClr val="lt1"/>
                </a:solidFill>
              </a:defRPr>
            </a:lvl4pPr>
            <a:lvl5pPr marL="2286000" lvl="4" indent="-298450">
              <a:spcBef>
                <a:spcPts val="1600"/>
              </a:spcBef>
              <a:spcAft>
                <a:spcPts val="0"/>
              </a:spcAft>
              <a:buClr>
                <a:schemeClr val="lt1"/>
              </a:buClr>
              <a:buSzPts val="1100"/>
              <a:buChar char="○"/>
              <a:defRPr>
                <a:solidFill>
                  <a:schemeClr val="lt1"/>
                </a:solidFill>
              </a:defRPr>
            </a:lvl5pPr>
            <a:lvl6pPr marL="2743200" lvl="5" indent="-298450">
              <a:spcBef>
                <a:spcPts val="1600"/>
              </a:spcBef>
              <a:spcAft>
                <a:spcPts val="0"/>
              </a:spcAft>
              <a:buClr>
                <a:schemeClr val="lt1"/>
              </a:buClr>
              <a:buSzPts val="1100"/>
              <a:buChar char="■"/>
              <a:defRPr>
                <a:solidFill>
                  <a:schemeClr val="lt1"/>
                </a:solidFill>
              </a:defRPr>
            </a:lvl6pPr>
            <a:lvl7pPr marL="3200400" lvl="6" indent="-298450">
              <a:spcBef>
                <a:spcPts val="1600"/>
              </a:spcBef>
              <a:spcAft>
                <a:spcPts val="0"/>
              </a:spcAft>
              <a:buClr>
                <a:schemeClr val="lt1"/>
              </a:buClr>
              <a:buSzPts val="1100"/>
              <a:buChar char="●"/>
              <a:defRPr>
                <a:solidFill>
                  <a:schemeClr val="lt1"/>
                </a:solidFill>
              </a:defRPr>
            </a:lvl7pPr>
            <a:lvl8pPr marL="3657600" lvl="7" indent="-298450">
              <a:spcBef>
                <a:spcPts val="1600"/>
              </a:spcBef>
              <a:spcAft>
                <a:spcPts val="0"/>
              </a:spcAft>
              <a:buClr>
                <a:schemeClr val="lt1"/>
              </a:buClr>
              <a:buSzPts val="1100"/>
              <a:buChar char="○"/>
              <a:defRPr>
                <a:solidFill>
                  <a:schemeClr val="lt1"/>
                </a:solidFill>
              </a:defRPr>
            </a:lvl8pPr>
            <a:lvl9pPr marL="4114800" lvl="8" indent="-298450">
              <a:spcBef>
                <a:spcPts val="1600"/>
              </a:spcBef>
              <a:spcAft>
                <a:spcPts val="1600"/>
              </a:spcAft>
              <a:buClr>
                <a:schemeClr val="lt1"/>
              </a:buClr>
              <a:buSzPts val="1100"/>
              <a:buChar char="■"/>
              <a:defRPr>
                <a:solidFill>
                  <a:schemeClr val="lt1"/>
                </a:solidFill>
              </a:defRPr>
            </a:lvl9pPr>
          </a:lstStyle>
          <a:p>
            <a:endParaRPr/>
          </a:p>
        </p:txBody>
      </p:sp>
      <p:sp>
        <p:nvSpPr>
          <p:cNvPr id="79" name="Google Shape;79;p11"/>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2"/>
          <p:cNvSpPr txBox="1">
            <a:spLocks noGrp="1"/>
          </p:cNvSpPr>
          <p:nvPr>
            <p:ph type="sldNum" idx="12"/>
          </p:nvPr>
        </p:nvSpPr>
        <p:spPr>
          <a:xfrm>
            <a:off x="8536302" y="4749851"/>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treamlin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SzPts val="2800"/>
              <a:buFont typeface="Raleway"/>
              <a:buNone/>
              <a:defRPr sz="2800" b="1">
                <a:latin typeface="Raleway"/>
                <a:ea typeface="Raleway"/>
                <a:cs typeface="Raleway"/>
                <a:sym typeface="Raleway"/>
              </a:defRPr>
            </a:lvl1pPr>
            <a:lvl2pPr lvl="1">
              <a:spcBef>
                <a:spcPts val="0"/>
              </a:spcBef>
              <a:spcAft>
                <a:spcPts val="0"/>
              </a:spcAft>
              <a:buSzPts val="2800"/>
              <a:buFont typeface="Raleway"/>
              <a:buNone/>
              <a:defRPr sz="2800" b="1">
                <a:latin typeface="Raleway"/>
                <a:ea typeface="Raleway"/>
                <a:cs typeface="Raleway"/>
                <a:sym typeface="Raleway"/>
              </a:defRPr>
            </a:lvl2pPr>
            <a:lvl3pPr lvl="2">
              <a:spcBef>
                <a:spcPts val="0"/>
              </a:spcBef>
              <a:spcAft>
                <a:spcPts val="0"/>
              </a:spcAft>
              <a:buSzPts val="2800"/>
              <a:buFont typeface="Raleway"/>
              <a:buNone/>
              <a:defRPr sz="2800" b="1">
                <a:latin typeface="Raleway"/>
                <a:ea typeface="Raleway"/>
                <a:cs typeface="Raleway"/>
                <a:sym typeface="Raleway"/>
              </a:defRPr>
            </a:lvl3pPr>
            <a:lvl4pPr lvl="3">
              <a:spcBef>
                <a:spcPts val="0"/>
              </a:spcBef>
              <a:spcAft>
                <a:spcPts val="0"/>
              </a:spcAft>
              <a:buSzPts val="2800"/>
              <a:buFont typeface="Raleway"/>
              <a:buNone/>
              <a:defRPr sz="2800" b="1">
                <a:latin typeface="Raleway"/>
                <a:ea typeface="Raleway"/>
                <a:cs typeface="Raleway"/>
                <a:sym typeface="Raleway"/>
              </a:defRPr>
            </a:lvl4pPr>
            <a:lvl5pPr lvl="4">
              <a:spcBef>
                <a:spcPts val="0"/>
              </a:spcBef>
              <a:spcAft>
                <a:spcPts val="0"/>
              </a:spcAft>
              <a:buSzPts val="2800"/>
              <a:buFont typeface="Raleway"/>
              <a:buNone/>
              <a:defRPr sz="2800" b="1">
                <a:latin typeface="Raleway"/>
                <a:ea typeface="Raleway"/>
                <a:cs typeface="Raleway"/>
                <a:sym typeface="Raleway"/>
              </a:defRPr>
            </a:lvl5pPr>
            <a:lvl6pPr lvl="5">
              <a:spcBef>
                <a:spcPts val="0"/>
              </a:spcBef>
              <a:spcAft>
                <a:spcPts val="0"/>
              </a:spcAft>
              <a:buSzPts val="2800"/>
              <a:buFont typeface="Raleway"/>
              <a:buNone/>
              <a:defRPr sz="2800" b="1">
                <a:latin typeface="Raleway"/>
                <a:ea typeface="Raleway"/>
                <a:cs typeface="Raleway"/>
                <a:sym typeface="Raleway"/>
              </a:defRPr>
            </a:lvl6pPr>
            <a:lvl7pPr lvl="6">
              <a:spcBef>
                <a:spcPts val="0"/>
              </a:spcBef>
              <a:spcAft>
                <a:spcPts val="0"/>
              </a:spcAft>
              <a:buSzPts val="2800"/>
              <a:buFont typeface="Raleway"/>
              <a:buNone/>
              <a:defRPr sz="2800" b="1">
                <a:latin typeface="Raleway"/>
                <a:ea typeface="Raleway"/>
                <a:cs typeface="Raleway"/>
                <a:sym typeface="Raleway"/>
              </a:defRPr>
            </a:lvl7pPr>
            <a:lvl8pPr lvl="7">
              <a:spcBef>
                <a:spcPts val="0"/>
              </a:spcBef>
              <a:spcAft>
                <a:spcPts val="0"/>
              </a:spcAft>
              <a:buSzPts val="2800"/>
              <a:buFont typeface="Raleway"/>
              <a:buNone/>
              <a:defRPr sz="2800" b="1">
                <a:latin typeface="Raleway"/>
                <a:ea typeface="Raleway"/>
                <a:cs typeface="Raleway"/>
                <a:sym typeface="Raleway"/>
              </a:defRPr>
            </a:lvl8pPr>
            <a:lvl9pPr lvl="8">
              <a:spcBef>
                <a:spcPts val="0"/>
              </a:spcBef>
              <a:spcAft>
                <a:spcPts val="0"/>
              </a:spcAft>
              <a:buSzPts val="2800"/>
              <a:buFont typeface="Raleway"/>
              <a:buNone/>
              <a:defRPr sz="2800" b="1">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1115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marL="914400" lvl="1"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marL="1371600" lvl="2"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marL="1828800" lvl="3"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marL="2286000" lvl="4"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marL="2743200" lvl="5"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marL="3200400" lvl="6"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marL="3657600" lvl="7" indent="-29845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marL="4114800" lvl="8" indent="-298450">
              <a:lnSpc>
                <a:spcPct val="115000"/>
              </a:lnSpc>
              <a:spcBef>
                <a:spcPts val="1600"/>
              </a:spcBef>
              <a:spcAft>
                <a:spcPts val="1600"/>
              </a:spcAft>
              <a:buClr>
                <a:schemeClr val="accent1"/>
              </a:buClr>
              <a:buSzPts val="1100"/>
              <a:buFont typeface="Lato"/>
              <a:buChar char="■"/>
              <a:defRPr sz="1100">
                <a:solidFill>
                  <a:schemeClr val="accent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hyperlink" Target="https://mackenziekbrooks.info/teaching/statement.html"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hyperlink" Target="https://scholarslab.lib.virginia.edu/student-programs-charter/" TargetMode="External"/><Relationship Id="rId5" Type="http://schemas.openxmlformats.org/officeDocument/2006/relationships/hyperlink" Target="https://humtech.ucla.edu/news/a-student-collaborators-bill-of-rights/" TargetMode="External"/><Relationship Id="rId4" Type="http://schemas.openxmlformats.org/officeDocument/2006/relationships/hyperlink" Target="https://ryancordell.org/statement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3"/>
          <p:cNvSpPr txBox="1">
            <a:spLocks noGrp="1"/>
          </p:cNvSpPr>
          <p:nvPr>
            <p:ph type="ctrTitle"/>
          </p:nvPr>
        </p:nvSpPr>
        <p:spPr>
          <a:xfrm>
            <a:off x="729450" y="1322450"/>
            <a:ext cx="7688100" cy="1664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br>
              <a:rPr lang="en-US" sz="3500" dirty="0"/>
            </a:br>
            <a:r>
              <a:rPr lang="en-US" sz="3500" dirty="0"/>
              <a:t>Mind Mapping Your</a:t>
            </a:r>
            <a:br>
              <a:rPr lang="en-US" sz="3500" dirty="0"/>
            </a:br>
            <a:r>
              <a:rPr lang="en-US" sz="3500" dirty="0"/>
              <a:t>(Digital)</a:t>
            </a:r>
            <a:br>
              <a:rPr lang="en-US" sz="3500" dirty="0"/>
            </a:br>
            <a:r>
              <a:rPr lang="en-US" sz="3500" dirty="0"/>
              <a:t>Pedagogy</a:t>
            </a:r>
            <a:endParaRPr sz="3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5"/>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Framing Thoughts</a:t>
            </a:r>
            <a:endParaRPr/>
          </a:p>
        </p:txBody>
      </p:sp>
      <p:sp>
        <p:nvSpPr>
          <p:cNvPr id="99" name="Google Shape;99;p15"/>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 sz="1800"/>
              <a:t>How do we find our own sense of pedagogy?</a:t>
            </a:r>
            <a:endParaRPr sz="1800"/>
          </a:p>
          <a:p>
            <a:pPr marL="914400" lvl="1" indent="-342900" algn="l" rtl="0">
              <a:spcBef>
                <a:spcPts val="0"/>
              </a:spcBef>
              <a:spcAft>
                <a:spcPts val="0"/>
              </a:spcAft>
              <a:buSzPts val="1800"/>
              <a:buChar char="○"/>
            </a:pPr>
            <a:r>
              <a:rPr lang="en" sz="1800"/>
              <a:t>Think about what you’re doing.</a:t>
            </a:r>
            <a:endParaRPr sz="1800"/>
          </a:p>
          <a:p>
            <a:pPr marL="914400" lvl="1" indent="-342900" algn="l" rtl="0">
              <a:spcBef>
                <a:spcPts val="0"/>
              </a:spcBef>
              <a:spcAft>
                <a:spcPts val="0"/>
              </a:spcAft>
              <a:buSzPts val="1800"/>
              <a:buChar char="○"/>
            </a:pPr>
            <a:r>
              <a:rPr lang="en" sz="1800"/>
              <a:t>Recognize the choices you make.</a:t>
            </a:r>
            <a:endParaRPr sz="1800"/>
          </a:p>
          <a:p>
            <a:pPr marL="914400" lvl="1" indent="-342900" algn="l" rtl="0">
              <a:spcBef>
                <a:spcPts val="0"/>
              </a:spcBef>
              <a:spcAft>
                <a:spcPts val="0"/>
              </a:spcAft>
              <a:buSzPts val="1800"/>
              <a:buChar char="○"/>
            </a:pPr>
            <a:r>
              <a:rPr lang="en" sz="1800"/>
              <a:t>Work from specific examples to broader values.</a:t>
            </a:r>
            <a:endParaRPr sz="1800"/>
          </a:p>
          <a:p>
            <a:pPr marL="0" lvl="0" indent="0" algn="l" rtl="0">
              <a:spcBef>
                <a:spcPts val="1600"/>
              </a:spcBef>
              <a:spcAft>
                <a:spcPts val="1600"/>
              </a:spcAft>
              <a:buNone/>
            </a:pP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6"/>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Framing Thoughts</a:t>
            </a:r>
            <a:endParaRPr/>
          </a:p>
        </p:txBody>
      </p:sp>
      <p:sp>
        <p:nvSpPr>
          <p:cNvPr id="105" name="Google Shape;105;p16"/>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a:t>Why a pedagogy of / for Digital Humanities specifically?</a:t>
            </a:r>
            <a:endParaRPr sz="1800"/>
          </a:p>
          <a:p>
            <a:pPr marL="457200" lvl="0" indent="-342900" algn="l" rtl="0">
              <a:spcBef>
                <a:spcPts val="1600"/>
              </a:spcBef>
              <a:spcAft>
                <a:spcPts val="0"/>
              </a:spcAft>
              <a:buSzPts val="1800"/>
              <a:buChar char="●"/>
            </a:pPr>
            <a:r>
              <a:rPr lang="en" sz="1800"/>
              <a:t>Interdisciplinarity / imposter syndrome / collaboration</a:t>
            </a:r>
            <a:endParaRPr sz="1800"/>
          </a:p>
          <a:p>
            <a:pPr marL="914400" lvl="1" indent="-342900" algn="l" rtl="0">
              <a:spcBef>
                <a:spcPts val="0"/>
              </a:spcBef>
              <a:spcAft>
                <a:spcPts val="0"/>
              </a:spcAft>
              <a:buSzPts val="1800"/>
              <a:buChar char="○"/>
            </a:pPr>
            <a:r>
              <a:rPr lang="en" sz="1800"/>
              <a:t>We’re always teaching</a:t>
            </a:r>
            <a:endParaRPr sz="1800"/>
          </a:p>
          <a:p>
            <a:pPr marL="457200" lvl="0" indent="-342900" algn="l" rtl="0">
              <a:spcBef>
                <a:spcPts val="0"/>
              </a:spcBef>
              <a:spcAft>
                <a:spcPts val="0"/>
              </a:spcAft>
              <a:buSzPts val="1800"/>
              <a:buChar char="●"/>
            </a:pPr>
            <a:r>
              <a:rPr lang="en" sz="1800"/>
              <a:t>Foregrounding a dh praxis should involve your pedagogy</a:t>
            </a:r>
            <a:endParaRPr sz="1800"/>
          </a:p>
          <a:p>
            <a:pPr marL="457200" lvl="0" indent="-342900" algn="l" rtl="0">
              <a:spcBef>
                <a:spcPts val="0"/>
              </a:spcBef>
              <a:spcAft>
                <a:spcPts val="0"/>
              </a:spcAft>
              <a:buSzPts val="1800"/>
              <a:buChar char="●"/>
            </a:pPr>
            <a:r>
              <a:rPr lang="en" sz="1800"/>
              <a:t>Establishes a contract of ethics with your students</a:t>
            </a:r>
            <a:endParaRPr sz="1800"/>
          </a:p>
          <a:p>
            <a:pPr marL="0" lvl="0" indent="0" algn="l" rtl="0">
              <a:spcBef>
                <a:spcPts val="1600"/>
              </a:spcBef>
              <a:spcAft>
                <a:spcPts val="1600"/>
              </a:spcAft>
              <a:buNone/>
            </a:pPr>
            <a:endParaRPr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D3047-9DD9-714F-A7D3-994D8BBC9AE0}"/>
              </a:ext>
            </a:extLst>
          </p:cNvPr>
          <p:cNvSpPr>
            <a:spLocks noGrp="1"/>
          </p:cNvSpPr>
          <p:nvPr>
            <p:ph type="title"/>
          </p:nvPr>
        </p:nvSpPr>
        <p:spPr/>
        <p:txBody>
          <a:bodyPr/>
          <a:lstStyle/>
          <a:p>
            <a:r>
              <a:rPr lang="en-US"/>
              <a:t>L. Dee Fink's Taxonomy of Significant Learning</a:t>
            </a:r>
          </a:p>
        </p:txBody>
      </p:sp>
      <p:pic>
        <p:nvPicPr>
          <p:cNvPr id="5" name="Picture 4">
            <a:extLst>
              <a:ext uri="{FF2B5EF4-FFF2-40B4-BE49-F238E27FC236}">
                <a16:creationId xmlns:a16="http://schemas.microsoft.com/office/drawing/2014/main" id="{B02BE0B7-54DF-2641-B960-556B6E51A31C}"/>
              </a:ext>
            </a:extLst>
          </p:cNvPr>
          <p:cNvPicPr>
            <a:picLocks noChangeAspect="1"/>
          </p:cNvPicPr>
          <p:nvPr/>
        </p:nvPicPr>
        <p:blipFill>
          <a:blip r:embed="rId3"/>
          <a:stretch>
            <a:fillRect/>
          </a:stretch>
        </p:blipFill>
        <p:spPr>
          <a:xfrm>
            <a:off x="3081550" y="1853850"/>
            <a:ext cx="2984500" cy="2984500"/>
          </a:xfrm>
          <a:prstGeom prst="rect">
            <a:avLst/>
          </a:prstGeom>
        </p:spPr>
      </p:pic>
    </p:spTree>
    <p:extLst>
      <p:ext uri="{BB962C8B-B14F-4D97-AF65-F5344CB8AC3E}">
        <p14:creationId xmlns:p14="http://schemas.microsoft.com/office/powerpoint/2010/main" val="176212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8"/>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18" name="Google Shape;118;p18"/>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400"/>
              <a:t>“Mind mapping works by using simple free association of words, one after another, to open up the idea space” - </a:t>
            </a:r>
            <a:r>
              <a:rPr lang="en" sz="2400" i="1"/>
              <a:t>Designing Your Life</a:t>
            </a:r>
            <a:r>
              <a:rPr lang="en" sz="2400"/>
              <a:t> by Bill Burnett and Dave Evans</a:t>
            </a:r>
            <a:endParaRPr sz="2400"/>
          </a:p>
          <a:p>
            <a:pPr marL="0" lvl="0" indent="0" algn="l" rtl="0">
              <a:spcBef>
                <a:spcPts val="1600"/>
              </a:spcBef>
              <a:spcAft>
                <a:spcPts val="160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19"/>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24" name="Google Shape;124;p19"/>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30200" algn="l" rtl="0">
              <a:spcBef>
                <a:spcPts val="0"/>
              </a:spcBef>
              <a:spcAft>
                <a:spcPts val="0"/>
              </a:spcAft>
              <a:buSzPts val="1600"/>
              <a:buAutoNum type="arabicPeriod"/>
            </a:pPr>
            <a:r>
              <a:rPr lang="en" sz="1600"/>
              <a:t>Pick a topic</a:t>
            </a:r>
            <a:endParaRPr sz="1600"/>
          </a:p>
          <a:p>
            <a:pPr marL="457200" lvl="0" indent="-330200" algn="l" rtl="0">
              <a:spcBef>
                <a:spcPts val="0"/>
              </a:spcBef>
              <a:spcAft>
                <a:spcPts val="0"/>
              </a:spcAft>
              <a:buSzPts val="1600"/>
              <a:buAutoNum type="arabicPeriod"/>
            </a:pPr>
            <a:r>
              <a:rPr lang="en" sz="1600"/>
              <a:t>Map associations</a:t>
            </a:r>
            <a:endParaRPr sz="1600"/>
          </a:p>
          <a:p>
            <a:pPr marL="457200" lvl="0" indent="-330200" algn="l" rtl="0">
              <a:spcBef>
                <a:spcPts val="0"/>
              </a:spcBef>
              <a:spcAft>
                <a:spcPts val="0"/>
              </a:spcAft>
              <a:buSzPts val="1600"/>
              <a:buAutoNum type="arabicPeriod"/>
            </a:pPr>
            <a:r>
              <a:rPr lang="en" sz="1600"/>
              <a:t>Make secondary connections and create concepts</a:t>
            </a:r>
            <a:endParaRPr sz="16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8"/>
        <p:cNvGrpSpPr/>
        <p:nvPr/>
      </p:nvGrpSpPr>
      <p:grpSpPr>
        <a:xfrm>
          <a:off x="0" y="0"/>
          <a:ext cx="0" cy="0"/>
          <a:chOff x="0" y="0"/>
          <a:chExt cx="0" cy="0"/>
        </a:xfrm>
      </p:grpSpPr>
      <p:pic>
        <p:nvPicPr>
          <p:cNvPr id="129" name="Google Shape;129;p20"/>
          <p:cNvPicPr preferRelativeResize="0"/>
          <p:nvPr/>
        </p:nvPicPr>
        <p:blipFill>
          <a:blip r:embed="rId3">
            <a:alphaModFix/>
          </a:blip>
          <a:stretch>
            <a:fillRect/>
          </a:stretch>
        </p:blipFill>
        <p:spPr>
          <a:xfrm>
            <a:off x="2138363" y="785813"/>
            <a:ext cx="4867275" cy="3571875"/>
          </a:xfrm>
          <a:prstGeom prst="rect">
            <a:avLst/>
          </a:prstGeom>
          <a:noFill/>
          <a:ln>
            <a:noFill/>
          </a:ln>
        </p:spPr>
      </p:pic>
      <p:sp>
        <p:nvSpPr>
          <p:cNvPr id="130" name="Google Shape;130;p20"/>
          <p:cNvSpPr txBox="1"/>
          <p:nvPr/>
        </p:nvSpPr>
        <p:spPr>
          <a:xfrm>
            <a:off x="5558575" y="5192350"/>
            <a:ext cx="6826500" cy="79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latin typeface="Lato"/>
              <a:ea typeface="Lato"/>
              <a:cs typeface="Lato"/>
              <a:sym typeface="Lato"/>
            </a:endParaRPr>
          </a:p>
        </p:txBody>
      </p:sp>
      <p:sp>
        <p:nvSpPr>
          <p:cNvPr id="131" name="Google Shape;131;p20"/>
          <p:cNvSpPr txBox="1"/>
          <p:nvPr/>
        </p:nvSpPr>
        <p:spPr>
          <a:xfrm>
            <a:off x="1158750" y="4569525"/>
            <a:ext cx="6826500" cy="411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latin typeface="Lato"/>
                <a:ea typeface="Lato"/>
                <a:cs typeface="Lato"/>
                <a:sym typeface="Lato"/>
              </a:rPr>
              <a:t>Burnett and Evans, </a:t>
            </a:r>
            <a:r>
              <a:rPr lang="en" i="1">
                <a:latin typeface="Lato"/>
                <a:ea typeface="Lato"/>
                <a:cs typeface="Lato"/>
                <a:sym typeface="Lato"/>
              </a:rPr>
              <a:t>Designing Your Life</a:t>
            </a:r>
            <a:r>
              <a:rPr lang="en">
                <a:latin typeface="Lato"/>
                <a:ea typeface="Lato"/>
                <a:cs typeface="Lato"/>
                <a:sym typeface="Lato"/>
              </a:rPr>
              <a:t>, p. 71.</a:t>
            </a:r>
            <a:endParaRPr>
              <a:latin typeface="Lato"/>
              <a:ea typeface="Lato"/>
              <a:cs typeface="Lato"/>
              <a:sym typeface="La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1"/>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37" name="Google Shape;137;p21"/>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30200" algn="l" rtl="0">
              <a:spcBef>
                <a:spcPts val="0"/>
              </a:spcBef>
              <a:spcAft>
                <a:spcPts val="0"/>
              </a:spcAft>
              <a:buSzPts val="1600"/>
              <a:buChar char="●"/>
            </a:pPr>
            <a:r>
              <a:rPr lang="en" sz="1600" dirty="0"/>
              <a:t>There should be a reason for everything you do in the classroom.</a:t>
            </a:r>
            <a:endParaRPr sz="1600" dirty="0"/>
          </a:p>
          <a:p>
            <a:pPr marL="457200" lvl="0" indent="-330200" algn="l" rtl="0">
              <a:spcBef>
                <a:spcPts val="0"/>
              </a:spcBef>
              <a:spcAft>
                <a:spcPts val="0"/>
              </a:spcAft>
              <a:buSzPts val="1600"/>
              <a:buChar char="●"/>
            </a:pPr>
            <a:r>
              <a:rPr lang="en" sz="1600" dirty="0"/>
              <a:t>Some of those reasons might be instinct. </a:t>
            </a:r>
            <a:endParaRPr sz="1600" dirty="0"/>
          </a:p>
          <a:p>
            <a:pPr marL="457200" lvl="0" indent="-330200" algn="l" rtl="0">
              <a:spcBef>
                <a:spcPts val="0"/>
              </a:spcBef>
              <a:spcAft>
                <a:spcPts val="0"/>
              </a:spcAft>
              <a:buSzPts val="1600"/>
              <a:buChar char="●"/>
            </a:pPr>
            <a:r>
              <a:rPr lang="en" sz="1600" dirty="0"/>
              <a:t>Mind mapping can help you realize what you care about.</a:t>
            </a:r>
            <a:endParaRPr sz="1600" dirty="0"/>
          </a:p>
          <a:p>
            <a:pPr marL="457200" lvl="0" indent="-330200" algn="l" rtl="0">
              <a:spcBef>
                <a:spcPts val="0"/>
              </a:spcBef>
              <a:spcAft>
                <a:spcPts val="0"/>
              </a:spcAft>
              <a:buSzPts val="1600"/>
              <a:buChar char="●"/>
            </a:pPr>
            <a:r>
              <a:rPr lang="en" sz="1600" dirty="0"/>
              <a:t>Goal is to surface the details of your teaching, abstract and concrete.</a:t>
            </a:r>
            <a:endParaRPr sz="1600" dirty="0"/>
          </a:p>
          <a:p>
            <a:pPr marL="457200" lvl="0" indent="-330200" algn="l" rtl="0">
              <a:spcBef>
                <a:spcPts val="0"/>
              </a:spcBef>
              <a:spcAft>
                <a:spcPts val="0"/>
              </a:spcAft>
              <a:buSzPts val="1600"/>
              <a:buChar char="●"/>
            </a:pPr>
            <a:r>
              <a:rPr lang="en" sz="1600" dirty="0"/>
              <a:t>Then circle things that are especially important to you.</a:t>
            </a:r>
            <a:endParaRPr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2"/>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43" name="Google Shape;143;p22"/>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30200" algn="l" rtl="0">
              <a:spcBef>
                <a:spcPts val="0"/>
              </a:spcBef>
              <a:spcAft>
                <a:spcPts val="0"/>
              </a:spcAft>
              <a:buSzPts val="1600"/>
              <a:buChar char="●"/>
            </a:pPr>
            <a:r>
              <a:rPr lang="en" sz="1600" dirty="0"/>
              <a:t>For example, on my mind map I circled:</a:t>
            </a:r>
            <a:endParaRPr sz="1600" dirty="0"/>
          </a:p>
          <a:p>
            <a:pPr marL="914400" lvl="1" indent="-330200" algn="l" rtl="0">
              <a:spcBef>
                <a:spcPts val="0"/>
              </a:spcBef>
              <a:spcAft>
                <a:spcPts val="0"/>
              </a:spcAft>
              <a:buSzPts val="1600"/>
              <a:buChar char="○"/>
            </a:pPr>
            <a:r>
              <a:rPr lang="en" sz="1600" dirty="0"/>
              <a:t>Critical thinking</a:t>
            </a:r>
            <a:endParaRPr sz="1600" dirty="0"/>
          </a:p>
          <a:p>
            <a:pPr marL="914400" lvl="1" indent="-330200" algn="l" rtl="0">
              <a:spcBef>
                <a:spcPts val="0"/>
              </a:spcBef>
              <a:spcAft>
                <a:spcPts val="0"/>
              </a:spcAft>
              <a:buSzPts val="1600"/>
              <a:buChar char="○"/>
            </a:pPr>
            <a:r>
              <a:rPr lang="en" sz="1600" dirty="0"/>
              <a:t>Confidence</a:t>
            </a:r>
            <a:endParaRPr sz="1600" dirty="0"/>
          </a:p>
          <a:p>
            <a:pPr marL="914400" lvl="1" indent="-330200" algn="l" rtl="0">
              <a:spcBef>
                <a:spcPts val="0"/>
              </a:spcBef>
              <a:spcAft>
                <a:spcPts val="0"/>
              </a:spcAft>
              <a:buSzPts val="1600"/>
              <a:buChar char="○"/>
            </a:pPr>
            <a:r>
              <a:rPr lang="en" sz="1600" dirty="0"/>
              <a:t>Owning technology</a:t>
            </a:r>
            <a:endParaRPr sz="1600" dirty="0"/>
          </a:p>
          <a:p>
            <a:pPr marL="914400" lvl="1" indent="-330200" algn="l" rtl="0">
              <a:spcBef>
                <a:spcPts val="0"/>
              </a:spcBef>
              <a:spcAft>
                <a:spcPts val="0"/>
              </a:spcAft>
              <a:buSzPts val="1600"/>
              <a:buChar char="○"/>
            </a:pPr>
            <a:r>
              <a:rPr lang="en" sz="1600" dirty="0"/>
              <a:t>Hands-on activities</a:t>
            </a:r>
            <a:endParaRPr sz="1600" dirty="0"/>
          </a:p>
          <a:p>
            <a:pPr marL="457200" lvl="0" indent="-330200" algn="l" rtl="0">
              <a:spcBef>
                <a:spcPts val="0"/>
              </a:spcBef>
              <a:spcAft>
                <a:spcPts val="0"/>
              </a:spcAft>
              <a:buSzPts val="1600"/>
              <a:buChar char="●"/>
            </a:pPr>
            <a:r>
              <a:rPr lang="en" sz="1600" dirty="0"/>
              <a:t>“Beyond Buttonology: Digital Humanities, Digital Pedagogy, and the ACRL Framework” - John E. Russell and Merinda Kaye Hensley</a:t>
            </a:r>
            <a:endParaRPr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49" name="Google Shape;149;p23"/>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0" algn="l" rtl="0">
              <a:spcBef>
                <a:spcPts val="0"/>
              </a:spcBef>
              <a:spcAft>
                <a:spcPts val="0"/>
              </a:spcAft>
              <a:buNone/>
            </a:pPr>
            <a:r>
              <a:rPr lang="en" sz="1600" dirty="0"/>
              <a:t>Generating your starting word: teaching/learning</a:t>
            </a:r>
          </a:p>
          <a:p>
            <a:pPr marL="457200" lvl="0" indent="-330200" algn="l" rtl="0">
              <a:spcBef>
                <a:spcPts val="1600"/>
              </a:spcBef>
              <a:spcAft>
                <a:spcPts val="0"/>
              </a:spcAft>
              <a:buSzPts val="1600"/>
              <a:buChar char="●"/>
            </a:pPr>
            <a:r>
              <a:rPr lang="en" sz="1600" dirty="0"/>
              <a:t>What excites you about teaching?</a:t>
            </a:r>
            <a:endParaRPr sz="1600" dirty="0"/>
          </a:p>
          <a:p>
            <a:pPr marL="457200" lvl="0" indent="-330200" algn="l" rtl="0">
              <a:spcBef>
                <a:spcPts val="0"/>
              </a:spcBef>
              <a:spcAft>
                <a:spcPts val="0"/>
              </a:spcAft>
              <a:buSzPts val="1600"/>
              <a:buChar char="●"/>
            </a:pPr>
            <a:r>
              <a:rPr lang="en" sz="1600" dirty="0"/>
              <a:t>What matters about teaching well?</a:t>
            </a:r>
            <a:endParaRPr sz="1600" dirty="0"/>
          </a:p>
          <a:p>
            <a:pPr marL="457200" lvl="0" indent="-330200" algn="l" rtl="0">
              <a:spcBef>
                <a:spcPts val="0"/>
              </a:spcBef>
              <a:spcAft>
                <a:spcPts val="0"/>
              </a:spcAft>
              <a:buSzPts val="1600"/>
              <a:buChar char="●"/>
            </a:pPr>
            <a:r>
              <a:rPr lang="en" sz="1600" dirty="0"/>
              <a:t>What is teaching?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839BD-096A-D24A-ABDB-7F5684B79C47}"/>
              </a:ext>
            </a:extLst>
          </p:cNvPr>
          <p:cNvSpPr>
            <a:spLocks noGrp="1"/>
          </p:cNvSpPr>
          <p:nvPr>
            <p:ph type="title"/>
          </p:nvPr>
        </p:nvSpPr>
        <p:spPr/>
        <p:txBody>
          <a:bodyPr/>
          <a:lstStyle/>
          <a:p>
            <a:r>
              <a:rPr lang="en-US" dirty="0"/>
              <a:t>Making it DH</a:t>
            </a:r>
          </a:p>
        </p:txBody>
      </p:sp>
      <p:sp>
        <p:nvSpPr>
          <p:cNvPr id="3" name="Text Placeholder 2">
            <a:extLst>
              <a:ext uri="{FF2B5EF4-FFF2-40B4-BE49-F238E27FC236}">
                <a16:creationId xmlns:a16="http://schemas.microsoft.com/office/drawing/2014/main" id="{FB62E280-AC60-404D-A6E5-B113F27F07B1}"/>
              </a:ext>
            </a:extLst>
          </p:cNvPr>
          <p:cNvSpPr>
            <a:spLocks noGrp="1"/>
          </p:cNvSpPr>
          <p:nvPr>
            <p:ph type="body" idx="1"/>
          </p:nvPr>
        </p:nvSpPr>
        <p:spPr/>
        <p:txBody>
          <a:bodyPr/>
          <a:lstStyle/>
          <a:p>
            <a:pPr marL="412750" indent="-285750">
              <a:buSzPts val="1600"/>
            </a:pPr>
            <a:r>
              <a:rPr lang="en-US" sz="1600" dirty="0"/>
              <a:t>What about digital humanities teaching?</a:t>
            </a:r>
          </a:p>
          <a:p>
            <a:pPr lvl="0" indent="-330200">
              <a:buSzPts val="1600"/>
            </a:pPr>
            <a:r>
              <a:rPr lang="en-US" sz="1600" dirty="0"/>
              <a:t>What makes your classroom an explicitly DH one?</a:t>
            </a:r>
          </a:p>
          <a:p>
            <a:pPr lvl="0" indent="-330200">
              <a:buSzPts val="1600"/>
            </a:pPr>
            <a:r>
              <a:rPr lang="en-US" sz="1600" dirty="0"/>
              <a:t>What has been something especially meaningful to you about the DH teaching you've experienced so far?</a:t>
            </a:r>
          </a:p>
          <a:p>
            <a:pPr marL="146050" indent="0">
              <a:buNone/>
            </a:pPr>
            <a:endParaRPr lang="en-US" sz="1600" dirty="0"/>
          </a:p>
        </p:txBody>
      </p:sp>
    </p:spTree>
    <p:extLst>
      <p:ext uri="{BB962C8B-B14F-4D97-AF65-F5344CB8AC3E}">
        <p14:creationId xmlns:p14="http://schemas.microsoft.com/office/powerpoint/2010/main" val="857299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D3047-9DD9-714F-A7D3-994D8BBC9AE0}"/>
              </a:ext>
            </a:extLst>
          </p:cNvPr>
          <p:cNvSpPr>
            <a:spLocks noGrp="1"/>
          </p:cNvSpPr>
          <p:nvPr>
            <p:ph type="title"/>
          </p:nvPr>
        </p:nvSpPr>
        <p:spPr/>
        <p:txBody>
          <a:bodyPr/>
          <a:lstStyle/>
          <a:p>
            <a:r>
              <a:rPr lang="en-US"/>
              <a:t>L. Dee Fink's Taxonomy of Significant Learning</a:t>
            </a:r>
          </a:p>
        </p:txBody>
      </p:sp>
      <p:pic>
        <p:nvPicPr>
          <p:cNvPr id="5" name="Picture 4">
            <a:extLst>
              <a:ext uri="{FF2B5EF4-FFF2-40B4-BE49-F238E27FC236}">
                <a16:creationId xmlns:a16="http://schemas.microsoft.com/office/drawing/2014/main" id="{B02BE0B7-54DF-2641-B960-556B6E51A31C}"/>
              </a:ext>
            </a:extLst>
          </p:cNvPr>
          <p:cNvPicPr>
            <a:picLocks noChangeAspect="1"/>
          </p:cNvPicPr>
          <p:nvPr/>
        </p:nvPicPr>
        <p:blipFill>
          <a:blip r:embed="rId3"/>
          <a:stretch>
            <a:fillRect/>
          </a:stretch>
        </p:blipFill>
        <p:spPr>
          <a:xfrm>
            <a:off x="3081550" y="1853850"/>
            <a:ext cx="2984500" cy="2984500"/>
          </a:xfrm>
          <a:prstGeom prst="rect">
            <a:avLst/>
          </a:prstGeom>
        </p:spPr>
      </p:pic>
    </p:spTree>
    <p:extLst>
      <p:ext uri="{BB962C8B-B14F-4D97-AF65-F5344CB8AC3E}">
        <p14:creationId xmlns:p14="http://schemas.microsoft.com/office/powerpoint/2010/main" val="2488675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Mind Mapping Your Pedagogy</a:t>
            </a:r>
            <a:endParaRPr/>
          </a:p>
        </p:txBody>
      </p:sp>
      <p:sp>
        <p:nvSpPr>
          <p:cNvPr id="155" name="Google Shape;155;p2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t>Place your starting word in the center.</a:t>
            </a:r>
            <a:endParaRPr sz="1600" dirty="0"/>
          </a:p>
          <a:p>
            <a:pPr marL="0" lvl="0" indent="0" algn="l" rtl="0">
              <a:spcBef>
                <a:spcPts val="1600"/>
              </a:spcBef>
              <a:spcAft>
                <a:spcPts val="0"/>
              </a:spcAft>
              <a:buNone/>
            </a:pPr>
            <a:r>
              <a:rPr lang="en" sz="1600" dirty="0"/>
              <a:t>Map outwards for five minutes or so by connecting related words and concepts.</a:t>
            </a:r>
            <a:endParaRPr sz="1600" dirty="0"/>
          </a:p>
          <a:p>
            <a:pPr marL="0" lvl="0" indent="0" algn="l" rtl="0">
              <a:spcBef>
                <a:spcPts val="1600"/>
              </a:spcBef>
              <a:spcAft>
                <a:spcPts val="0"/>
              </a:spcAft>
              <a:buNone/>
            </a:pPr>
            <a:r>
              <a:rPr lang="en" sz="1600" dirty="0"/>
              <a:t>Take five minutes to reflect on the map. What do you see? Circle several areas that seem interesting or especially important to you. How do they link together? </a:t>
            </a:r>
            <a:endParaRPr sz="1600" dirty="0"/>
          </a:p>
          <a:p>
            <a:pPr marL="0" lvl="0" indent="0" algn="l" rtl="0">
              <a:spcBef>
                <a:spcPts val="1600"/>
              </a:spcBef>
              <a:spcAft>
                <a:spcPts val="1600"/>
              </a:spcAft>
              <a:buNone/>
            </a:pPr>
            <a:r>
              <a:rPr lang="en" sz="1600" dirty="0"/>
              <a:t>Discuss with your neighbor for five minutes. Then discuss with the group.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Mind Mapping Your Pedagogy Pt 2.</a:t>
            </a:r>
            <a:endParaRPr dirty="0"/>
          </a:p>
        </p:txBody>
      </p:sp>
      <p:sp>
        <p:nvSpPr>
          <p:cNvPr id="155" name="Google Shape;155;p2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t>Place a word related to your research in the center.</a:t>
            </a:r>
            <a:endParaRPr sz="1600" dirty="0"/>
          </a:p>
          <a:p>
            <a:pPr marL="0" lvl="0" indent="0" algn="l" rtl="0">
              <a:spcBef>
                <a:spcPts val="1600"/>
              </a:spcBef>
              <a:spcAft>
                <a:spcPts val="0"/>
              </a:spcAft>
              <a:buNone/>
            </a:pPr>
            <a:r>
              <a:rPr lang="en" sz="1600" dirty="0"/>
              <a:t>Map outwards for five minutes or so by connecting related words and concepts.</a:t>
            </a:r>
            <a:endParaRPr sz="1600" dirty="0"/>
          </a:p>
          <a:p>
            <a:pPr marL="0" lvl="0" indent="0" algn="l" rtl="0">
              <a:spcBef>
                <a:spcPts val="1600"/>
              </a:spcBef>
              <a:spcAft>
                <a:spcPts val="0"/>
              </a:spcAft>
              <a:buNone/>
            </a:pPr>
            <a:r>
              <a:rPr lang="en" sz="1600" dirty="0"/>
              <a:t>Take five minutes to reflect on the map. What do you see? Circle several areas that seem interesting or especially important to you. How do they link together? </a:t>
            </a:r>
            <a:endParaRPr sz="1600" dirty="0"/>
          </a:p>
          <a:p>
            <a:pPr marL="0" lvl="0" indent="0" algn="l" rtl="0">
              <a:spcBef>
                <a:spcPts val="1600"/>
              </a:spcBef>
              <a:spcAft>
                <a:spcPts val="1600"/>
              </a:spcAft>
              <a:buNone/>
            </a:pPr>
            <a:r>
              <a:rPr lang="en" sz="1600" dirty="0"/>
              <a:t>Discuss with your neighbor for five minutes. Then discuss with the group. </a:t>
            </a:r>
          </a:p>
        </p:txBody>
      </p:sp>
    </p:spTree>
    <p:extLst>
      <p:ext uri="{BB962C8B-B14F-4D97-AF65-F5344CB8AC3E}">
        <p14:creationId xmlns:p14="http://schemas.microsoft.com/office/powerpoint/2010/main" val="19643296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Mind Mapping Your Pedagogy Pt 3.</a:t>
            </a:r>
            <a:endParaRPr dirty="0"/>
          </a:p>
        </p:txBody>
      </p:sp>
      <p:sp>
        <p:nvSpPr>
          <p:cNvPr id="155" name="Google Shape;155;p2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600" dirty="0"/>
              <a:t>Place a word related to your interests in DH in the center.</a:t>
            </a:r>
            <a:endParaRPr sz="1600" dirty="0"/>
          </a:p>
          <a:p>
            <a:pPr marL="0" lvl="0" indent="0" algn="l" rtl="0">
              <a:spcBef>
                <a:spcPts val="1600"/>
              </a:spcBef>
              <a:spcAft>
                <a:spcPts val="0"/>
              </a:spcAft>
              <a:buNone/>
            </a:pPr>
            <a:r>
              <a:rPr lang="en" sz="1600" dirty="0"/>
              <a:t>Map outwards for five minutes or so by connecting related words and concepts.</a:t>
            </a:r>
            <a:endParaRPr sz="1600" dirty="0"/>
          </a:p>
          <a:p>
            <a:pPr marL="0" lvl="0" indent="0" algn="l" rtl="0">
              <a:spcBef>
                <a:spcPts val="1600"/>
              </a:spcBef>
              <a:spcAft>
                <a:spcPts val="0"/>
              </a:spcAft>
              <a:buNone/>
            </a:pPr>
            <a:r>
              <a:rPr lang="en" sz="1600" dirty="0"/>
              <a:t>Take five minutes to reflect on the map. What do you see? Circle several areas that seem interesting or especially important to you. How do they link together? </a:t>
            </a:r>
            <a:endParaRPr sz="1600" dirty="0"/>
          </a:p>
          <a:p>
            <a:pPr marL="0" lvl="0" indent="0" algn="l" rtl="0">
              <a:spcBef>
                <a:spcPts val="1600"/>
              </a:spcBef>
              <a:spcAft>
                <a:spcPts val="1600"/>
              </a:spcAft>
              <a:buNone/>
            </a:pPr>
            <a:r>
              <a:rPr lang="en" sz="1600" dirty="0"/>
              <a:t>Discuss with your neighbor for five minutes. Then discuss with the group. </a:t>
            </a:r>
          </a:p>
          <a:p>
            <a:pPr marL="0" lvl="0" indent="0" algn="l" rtl="0">
              <a:spcBef>
                <a:spcPts val="1600"/>
              </a:spcBef>
              <a:spcAft>
                <a:spcPts val="1600"/>
              </a:spcAft>
              <a:buNone/>
            </a:pPr>
            <a:endParaRPr lang="en" sz="1600" dirty="0"/>
          </a:p>
          <a:p>
            <a:pPr marL="0" lvl="0" indent="0" algn="l" rtl="0">
              <a:spcBef>
                <a:spcPts val="1600"/>
              </a:spcBef>
              <a:spcAft>
                <a:spcPts val="1600"/>
              </a:spcAft>
              <a:buNone/>
            </a:pPr>
            <a:endParaRPr lang="en" sz="1600" dirty="0"/>
          </a:p>
        </p:txBody>
      </p:sp>
    </p:spTree>
    <p:extLst>
      <p:ext uri="{BB962C8B-B14F-4D97-AF65-F5344CB8AC3E}">
        <p14:creationId xmlns:p14="http://schemas.microsoft.com/office/powerpoint/2010/main" val="15326598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Mind Mapping Your Pedagogy Pt 4.</a:t>
            </a:r>
            <a:endParaRPr dirty="0"/>
          </a:p>
        </p:txBody>
      </p:sp>
      <p:sp>
        <p:nvSpPr>
          <p:cNvPr id="155" name="Google Shape;155;p24"/>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t>What overlaps do you see among the various maps?</a:t>
            </a:r>
            <a:br>
              <a:rPr lang="en-US" sz="1600" dirty="0"/>
            </a:br>
            <a:r>
              <a:rPr lang="en-US" sz="1600" dirty="0"/>
              <a:t>What things from the readings or Digital Pedagogy in the Humanities were provocative?</a:t>
            </a:r>
            <a:br>
              <a:rPr lang="en-US" sz="1600" dirty="0"/>
            </a:br>
            <a:r>
              <a:rPr lang="en-US" sz="1600" dirty="0"/>
              <a:t>What ideas do you have for workshops based on this? </a:t>
            </a:r>
            <a:r>
              <a:rPr lang="en-US" sz="1600"/>
              <a:t>Broad methods or topics?</a:t>
            </a:r>
            <a:endParaRPr lang="en" sz="1600" dirty="0"/>
          </a:p>
        </p:txBody>
      </p:sp>
    </p:spTree>
    <p:extLst>
      <p:ext uri="{BB962C8B-B14F-4D97-AF65-F5344CB8AC3E}">
        <p14:creationId xmlns:p14="http://schemas.microsoft.com/office/powerpoint/2010/main" val="12103871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1"/>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Activity 2: Assess samples (30 minutes)</a:t>
            </a:r>
            <a:endParaRPr/>
          </a:p>
        </p:txBody>
      </p:sp>
      <p:sp>
        <p:nvSpPr>
          <p:cNvPr id="196" name="Google Shape;196;p31"/>
          <p:cNvSpPr txBox="1">
            <a:spLocks noGrp="1"/>
          </p:cNvSpPr>
          <p:nvPr>
            <p:ph type="body" idx="1"/>
          </p:nvPr>
        </p:nvSpPr>
        <p:spPr>
          <a:xfrm>
            <a:off x="729450" y="2078875"/>
            <a:ext cx="7688700" cy="22611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AutoNum type="arabicPeriod"/>
            </a:pPr>
            <a:r>
              <a:rPr lang="en" sz="1800"/>
              <a:t>Definitions of teaching and learning</a:t>
            </a:r>
            <a:endParaRPr sz="1800"/>
          </a:p>
          <a:p>
            <a:pPr marL="457200" lvl="0" indent="-342900" algn="l" rtl="0">
              <a:spcBef>
                <a:spcPts val="0"/>
              </a:spcBef>
              <a:spcAft>
                <a:spcPts val="0"/>
              </a:spcAft>
              <a:buSzPts val="1800"/>
              <a:buAutoNum type="arabicPeriod"/>
            </a:pPr>
            <a:r>
              <a:rPr lang="en" sz="1800"/>
              <a:t>View of the learner</a:t>
            </a:r>
            <a:endParaRPr sz="1800"/>
          </a:p>
          <a:p>
            <a:pPr marL="457200" lvl="0" indent="-342900" algn="l" rtl="0">
              <a:spcBef>
                <a:spcPts val="0"/>
              </a:spcBef>
              <a:spcAft>
                <a:spcPts val="0"/>
              </a:spcAft>
              <a:buSzPts val="1800"/>
              <a:buAutoNum type="arabicPeriod"/>
            </a:pPr>
            <a:r>
              <a:rPr lang="en" sz="1800"/>
              <a:t>Goals/expectations of the student-teacher relationship</a:t>
            </a:r>
            <a:endParaRPr sz="1800"/>
          </a:p>
          <a:p>
            <a:pPr marL="457200" lvl="0" indent="-342900" algn="l" rtl="0">
              <a:spcBef>
                <a:spcPts val="0"/>
              </a:spcBef>
              <a:spcAft>
                <a:spcPts val="0"/>
              </a:spcAft>
              <a:buSzPts val="1800"/>
              <a:buAutoNum type="arabicPeriod"/>
            </a:pPr>
            <a:r>
              <a:rPr lang="en" sz="1800"/>
              <a:t>Teaching methods and evaluation </a:t>
            </a:r>
            <a:endParaRPr sz="1800"/>
          </a:p>
          <a:p>
            <a:pPr marL="457200" lvl="0" indent="-342900" algn="l" rtl="0">
              <a:spcBef>
                <a:spcPts val="0"/>
              </a:spcBef>
              <a:spcAft>
                <a:spcPts val="0"/>
              </a:spcAft>
              <a:buSzPts val="1800"/>
              <a:buAutoNum type="arabicPeriod"/>
            </a:pPr>
            <a:r>
              <a:rPr lang="en" sz="1800"/>
              <a:t>Personal context of teaching</a:t>
            </a:r>
            <a:endParaRPr sz="1800"/>
          </a:p>
          <a:p>
            <a:pPr marL="457200" lvl="0" indent="-342900" algn="l" rtl="0">
              <a:spcBef>
                <a:spcPts val="0"/>
              </a:spcBef>
              <a:spcAft>
                <a:spcPts val="0"/>
              </a:spcAft>
              <a:buSzPts val="1800"/>
              <a:buAutoNum type="arabicPeriod"/>
            </a:pPr>
            <a:r>
              <a:rPr lang="en" sz="1800"/>
              <a:t>Organization </a:t>
            </a:r>
            <a:endParaRPr sz="1800"/>
          </a:p>
          <a:p>
            <a:pPr marL="0" lvl="0" indent="0" algn="l" rtl="0">
              <a:spcBef>
                <a:spcPts val="1600"/>
              </a:spcBef>
              <a:spcAft>
                <a:spcPts val="160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3"/>
          <p:cNvSpPr txBox="1">
            <a:spLocks noGrp="1"/>
          </p:cNvSpPr>
          <p:nvPr>
            <p:ph type="title"/>
          </p:nvPr>
        </p:nvSpPr>
        <p:spPr>
          <a:xfrm>
            <a:off x="729450" y="1318650"/>
            <a:ext cx="76887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Bibliography - DH Examples</a:t>
            </a:r>
            <a:endParaRPr/>
          </a:p>
        </p:txBody>
      </p:sp>
      <p:sp>
        <p:nvSpPr>
          <p:cNvPr id="208" name="Google Shape;208;p33"/>
          <p:cNvSpPr txBox="1">
            <a:spLocks noGrp="1"/>
          </p:cNvSpPr>
          <p:nvPr>
            <p:ph type="body" idx="1"/>
          </p:nvPr>
        </p:nvSpPr>
        <p:spPr>
          <a:xfrm>
            <a:off x="729450" y="2122750"/>
            <a:ext cx="7688700" cy="2261100"/>
          </a:xfrm>
          <a:prstGeom prst="rect">
            <a:avLst/>
          </a:prstGeom>
        </p:spPr>
        <p:txBody>
          <a:bodyPr spcFirstLastPara="1" wrap="square" lIns="91425" tIns="91425" rIns="91425" bIns="91425" anchor="t" anchorCtr="0">
            <a:noAutofit/>
          </a:bodyPr>
          <a:lstStyle/>
          <a:p>
            <a:pPr marL="457200" lvl="0" indent="-330200" algn="l" rtl="0">
              <a:spcBef>
                <a:spcPts val="0"/>
              </a:spcBef>
              <a:spcAft>
                <a:spcPts val="0"/>
              </a:spcAft>
              <a:buSzPts val="1600"/>
              <a:buChar char="●"/>
            </a:pPr>
            <a:r>
              <a:rPr lang="en" sz="1600"/>
              <a:t>Mackenzie Brooks - Teaching Statement - </a:t>
            </a:r>
            <a:r>
              <a:rPr lang="en" sz="1600" u="sng">
                <a:solidFill>
                  <a:schemeClr val="hlink"/>
                </a:solidFill>
                <a:latin typeface="Arial"/>
                <a:ea typeface="Arial"/>
                <a:cs typeface="Arial"/>
                <a:sym typeface="Arial"/>
                <a:hlinkClick r:id="rId3"/>
              </a:rPr>
              <a:t>https://mackenziekbrooks.info/teaching/statement.html</a:t>
            </a:r>
            <a:endParaRPr sz="1600"/>
          </a:p>
          <a:p>
            <a:pPr marL="457200" lvl="0" indent="-330200" algn="l" rtl="0">
              <a:spcBef>
                <a:spcPts val="0"/>
              </a:spcBef>
              <a:spcAft>
                <a:spcPts val="0"/>
              </a:spcAft>
              <a:buSzPts val="1600"/>
              <a:buChar char="●"/>
            </a:pPr>
            <a:r>
              <a:rPr lang="en" sz="1600"/>
              <a:t>Ryan Cordell - Statement of Teaching Philosophy - </a:t>
            </a:r>
            <a:r>
              <a:rPr lang="en" sz="1600" u="sng">
                <a:solidFill>
                  <a:schemeClr val="hlink"/>
                </a:solidFill>
                <a:latin typeface="Arial"/>
                <a:ea typeface="Arial"/>
                <a:cs typeface="Arial"/>
                <a:sym typeface="Arial"/>
                <a:hlinkClick r:id="rId4"/>
              </a:rPr>
              <a:t>https://ryancordell.org/statements</a:t>
            </a:r>
            <a:endParaRPr sz="1600"/>
          </a:p>
          <a:p>
            <a:pPr marL="457200" lvl="0" indent="-330200" algn="l" rtl="0">
              <a:spcBef>
                <a:spcPts val="0"/>
              </a:spcBef>
              <a:spcAft>
                <a:spcPts val="0"/>
              </a:spcAft>
              <a:buSzPts val="1600"/>
              <a:buChar char="●"/>
            </a:pPr>
            <a:r>
              <a:rPr lang="en" sz="1600"/>
              <a:t>UCLA DH Program - A Student Collaborators Bill of Rights - </a:t>
            </a:r>
            <a:r>
              <a:rPr lang="en" sz="1600" u="sng">
                <a:solidFill>
                  <a:schemeClr val="hlink"/>
                </a:solidFill>
                <a:latin typeface="Arial"/>
                <a:ea typeface="Arial"/>
                <a:cs typeface="Arial"/>
                <a:sym typeface="Arial"/>
                <a:hlinkClick r:id="rId5"/>
              </a:rPr>
              <a:t>https://humtech.ucla.edu/news/a-student-collaborators-bill-of-rights/</a:t>
            </a:r>
            <a:endParaRPr sz="1600"/>
          </a:p>
          <a:p>
            <a:pPr marL="457200" lvl="0" indent="-330200" algn="l" rtl="0">
              <a:spcBef>
                <a:spcPts val="0"/>
              </a:spcBef>
              <a:spcAft>
                <a:spcPts val="0"/>
              </a:spcAft>
              <a:buSzPts val="1600"/>
              <a:buChar char="●"/>
            </a:pPr>
            <a:r>
              <a:rPr lang="en" sz="1600"/>
              <a:t>Scholars’ Lab Student Programs Charter - </a:t>
            </a:r>
            <a:r>
              <a:rPr lang="en" sz="1600" u="sng">
                <a:solidFill>
                  <a:schemeClr val="hlink"/>
                </a:solidFill>
                <a:latin typeface="Arial"/>
                <a:ea typeface="Arial"/>
                <a:cs typeface="Arial"/>
                <a:sym typeface="Arial"/>
                <a:hlinkClick r:id="rId6"/>
              </a:rPr>
              <a:t>https://scholarslab.lib.virginia.edu/student-programs-charter/</a:t>
            </a:r>
            <a:endParaRPr sz="1600"/>
          </a:p>
        </p:txBody>
      </p:sp>
    </p:spTree>
  </p:cSld>
  <p:clrMapOvr>
    <a:masterClrMapping/>
  </p:clrMapOvr>
</p:sld>
</file>

<file path=ppt/theme/theme1.xml><?xml version="1.0" encoding="utf-8"?>
<a:theme xmlns:a="http://schemas.openxmlformats.org/drawingml/2006/main"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191</TotalTime>
  <Words>1634</Words>
  <Application>Microsoft Macintosh PowerPoint</Application>
  <PresentationFormat>On-screen Show (16:9)</PresentationFormat>
  <Paragraphs>108</Paragraphs>
  <Slides>18</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Lato</vt:lpstr>
      <vt:lpstr>Arial</vt:lpstr>
      <vt:lpstr>Raleway</vt:lpstr>
      <vt:lpstr>Streamline</vt:lpstr>
      <vt:lpstr> Mind Mapping Your (Digital) Pedagogy</vt:lpstr>
      <vt:lpstr>Framing Thoughts</vt:lpstr>
      <vt:lpstr>Framing Thoughts</vt:lpstr>
      <vt:lpstr>L. Dee Fink's Taxonomy of Significant Learning</vt:lpstr>
      <vt:lpstr>Mind Mapping Your Pedagogy</vt:lpstr>
      <vt:lpstr>Mind Mapping Your Pedagogy</vt:lpstr>
      <vt:lpstr>PowerPoint Presentation</vt:lpstr>
      <vt:lpstr>Mind Mapping Your Pedagogy</vt:lpstr>
      <vt:lpstr>Mind Mapping Your Pedagogy</vt:lpstr>
      <vt:lpstr>Mind Mapping Your Pedagogy</vt:lpstr>
      <vt:lpstr>Making it DH</vt:lpstr>
      <vt:lpstr>L. Dee Fink's Taxonomy of Significant Learning</vt:lpstr>
      <vt:lpstr>Mind Mapping Your Pedagogy</vt:lpstr>
      <vt:lpstr>Mind Mapping Your Pedagogy Pt 2.</vt:lpstr>
      <vt:lpstr>Mind Mapping Your Pedagogy Pt 3.</vt:lpstr>
      <vt:lpstr>Mind Mapping Your Pedagogy Pt 4.</vt:lpstr>
      <vt:lpstr>Activity 2: Assess samples (30 minutes)</vt:lpstr>
      <vt:lpstr>Bibliography - DH 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Mind Mapping Your (Digital) Pedagogy</dc:title>
  <cp:lastModifiedBy>Walsh, Brandon M (bmw9t)</cp:lastModifiedBy>
  <cp:revision>16</cp:revision>
  <dcterms:modified xsi:type="dcterms:W3CDTF">2024-10-29T14:34:14Z</dcterms:modified>
</cp:coreProperties>
</file>